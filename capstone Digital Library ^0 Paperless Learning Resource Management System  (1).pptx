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3CF5C5-10C0-400B-B2D0-3B79A156C8FB}" v="22" dt="2026-08-25T16:46:58.15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>
      <p:cViewPr varScale="1">
        <p:scale>
          <a:sx n="64" d="100"/>
          <a:sy n="64" d="100"/>
        </p:scale>
        <p:origin x="105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3562" y="4239520"/>
            <a:ext cx="8524874" cy="4286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71975" y="1237354"/>
            <a:ext cx="3448049" cy="3333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25870" y="1673825"/>
            <a:ext cx="10012045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36EA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0E172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36EA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0E172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36EA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1123950"/>
            <a:ext cx="11048999" cy="52577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36EA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5296" y="1563247"/>
            <a:ext cx="11201406" cy="8320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36EA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8800" y="2638574"/>
            <a:ext cx="5062855" cy="2123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0E172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6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6.png"/><Relationship Id="rId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40.png"/><Relationship Id="rId7" Type="http://schemas.openxmlformats.org/officeDocument/2006/relationships/image" Target="../media/image6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6.png"/><Relationship Id="rId4" Type="http://schemas.openxmlformats.org/officeDocument/2006/relationships/image" Target="../media/image7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495300" y="1673825"/>
            <a:ext cx="11468100" cy="18716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0" marR="5080" indent="-197485" algn="ctr">
              <a:lnSpc>
                <a:spcPct val="114199"/>
              </a:lnSpc>
              <a:spcBef>
                <a:spcPts val="100"/>
              </a:spcBef>
              <a:tabLst>
                <a:tab pos="2033905" algn="l"/>
                <a:tab pos="2959735" algn="l"/>
                <a:tab pos="4140835" algn="l"/>
                <a:tab pos="4670425" algn="l"/>
                <a:tab pos="6855459" algn="l"/>
                <a:tab pos="7527925" algn="l"/>
              </a:tabLst>
            </a:pPr>
            <a:r>
              <a:rPr lang="en-IN" spc="5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pc="560" dirty="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lang="en-US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pc="525" dirty="0">
                <a:solidFill>
                  <a:srgbClr val="FFFFFF"/>
                </a:solidFill>
                <a:latin typeface="Calibri"/>
                <a:cs typeface="Calibri"/>
              </a:rPr>
              <a:t>Library</a:t>
            </a:r>
            <a:r>
              <a:rPr lang="en-US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pc="-5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US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pc="580" dirty="0">
                <a:solidFill>
                  <a:srgbClr val="FFFFFF"/>
                </a:solidFill>
                <a:latin typeface="Calibri"/>
                <a:cs typeface="Calibri"/>
              </a:rPr>
              <a:t>Paperless</a:t>
            </a:r>
            <a:r>
              <a:rPr lang="en-US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pc="640" dirty="0">
                <a:solidFill>
                  <a:srgbClr val="FFFFFF"/>
                </a:solidFill>
                <a:latin typeface="Calibri"/>
                <a:cs typeface="Calibri"/>
              </a:rPr>
              <a:t>Learning </a:t>
            </a:r>
            <a:r>
              <a:rPr lang="en-US" spc="610" dirty="0">
                <a:solidFill>
                  <a:srgbClr val="FFFFFF"/>
                </a:solidFill>
                <a:latin typeface="Calibri"/>
                <a:cs typeface="Calibri"/>
              </a:rPr>
              <a:t>Resource</a:t>
            </a:r>
            <a:r>
              <a:rPr lang="en-US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pc="690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r>
              <a:rPr lang="en-US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n-US" spc="66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br>
              <a:rPr lang="en-IN" spc="660" dirty="0">
                <a:solidFill>
                  <a:srgbClr val="FFFFFF"/>
                </a:solidFill>
                <a:latin typeface="Calibri"/>
                <a:cs typeface="Calibri"/>
              </a:rPr>
            </a:br>
            <a:endParaRPr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16498" y="3880518"/>
            <a:ext cx="943610" cy="463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2225">
              <a:lnSpc>
                <a:spcPct val="119800"/>
              </a:lnSpc>
              <a:spcBef>
                <a:spcPts val="90"/>
              </a:spcBef>
            </a:pPr>
            <a:r>
              <a:rPr sz="1200" b="1" spc="-10" dirty="0">
                <a:solidFill>
                  <a:srgbClr val="FFFFFF"/>
                </a:solidFill>
                <a:latin typeface="Tahoma"/>
                <a:cs typeface="Tahoma"/>
              </a:rPr>
              <a:t>GOWTHAM </a:t>
            </a:r>
            <a:r>
              <a:rPr sz="1200" b="1" spc="-50" dirty="0">
                <a:solidFill>
                  <a:srgbClr val="FFFFFF"/>
                </a:solidFill>
                <a:latin typeface="Tahoma"/>
                <a:cs typeface="Tahoma"/>
              </a:rPr>
              <a:t>1971260007</a:t>
            </a:r>
            <a:endParaRPr sz="1200" dirty="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53373"/>
            <a:ext cx="11053051" cy="96015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86001" y="5546972"/>
            <a:ext cx="2998616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60" dirty="0">
                <a:solidFill>
                  <a:srgbClr val="FFFFFF"/>
                </a:solidFill>
                <a:latin typeface="Tahoma"/>
                <a:cs typeface="Tahoma"/>
              </a:rPr>
              <a:t>Dr.</a:t>
            </a:r>
            <a:r>
              <a:rPr sz="14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K.</a:t>
            </a:r>
            <a:r>
              <a:rPr sz="14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Tahoma"/>
                <a:cs typeface="Tahoma"/>
              </a:rPr>
              <a:t>PARIMALA</a:t>
            </a:r>
            <a:r>
              <a:rPr sz="14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Tahoma"/>
                <a:cs typeface="Tahoma"/>
              </a:rPr>
              <a:t>KANAGA</a:t>
            </a:r>
            <a:r>
              <a:rPr sz="14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Tahoma"/>
                <a:cs typeface="Tahoma"/>
              </a:rPr>
              <a:t>DEVAN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FB853-501A-2501-FADC-D98D165149D2}"/>
              </a:ext>
            </a:extLst>
          </p:cNvPr>
          <p:cNvSpPr txBox="1"/>
          <p:nvPr/>
        </p:nvSpPr>
        <p:spPr>
          <a:xfrm>
            <a:off x="649573" y="5454334"/>
            <a:ext cx="1788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2"/>
                </a:solidFill>
              </a:rPr>
              <a:t>   Guided by </a:t>
            </a:r>
            <a:r>
              <a:rPr lang="en-IN" sz="2000" b="1" dirty="0">
                <a:solidFill>
                  <a:schemeClr val="bg2"/>
                </a:solidFill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6A08DF-55A5-98B2-4B03-6524D9B57640}"/>
              </a:ext>
            </a:extLst>
          </p:cNvPr>
          <p:cNvSpPr txBox="1"/>
          <p:nvPr/>
        </p:nvSpPr>
        <p:spPr>
          <a:xfrm>
            <a:off x="649573" y="5085001"/>
            <a:ext cx="373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 Course code </a:t>
            </a:r>
            <a:r>
              <a:rPr lang="en-IN" b="1" dirty="0">
                <a:solidFill>
                  <a:schemeClr val="bg1"/>
                </a:solidFill>
              </a:rPr>
              <a:t>: DSA0101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81CC60-CADD-2C9B-CCA9-DF160676F119}"/>
              </a:ext>
            </a:extLst>
          </p:cNvPr>
          <p:cNvSpPr txBox="1"/>
          <p:nvPr/>
        </p:nvSpPr>
        <p:spPr>
          <a:xfrm>
            <a:off x="649572" y="4639045"/>
            <a:ext cx="6970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Course name </a:t>
            </a:r>
            <a:r>
              <a:rPr lang="en-IN" b="1" dirty="0">
                <a:solidFill>
                  <a:schemeClr val="bg1"/>
                </a:solidFill>
              </a:rPr>
              <a:t>: Object Oriented Programming concepts in C++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4B9D31-2CEF-03EC-FEAE-1CEE57AAEEE7}"/>
              </a:ext>
            </a:extLst>
          </p:cNvPr>
          <p:cNvSpPr/>
          <p:nvPr/>
        </p:nvSpPr>
        <p:spPr>
          <a:xfrm>
            <a:off x="1356494" y="3700358"/>
            <a:ext cx="1850730" cy="684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6C54E8-13EB-00CB-B72D-46EB8F2A578C}"/>
              </a:ext>
            </a:extLst>
          </p:cNvPr>
          <p:cNvSpPr txBox="1"/>
          <p:nvPr/>
        </p:nvSpPr>
        <p:spPr>
          <a:xfrm>
            <a:off x="1513035" y="3731036"/>
            <a:ext cx="16941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spc="-10" dirty="0">
                <a:solidFill>
                  <a:srgbClr val="FFFFFF"/>
                </a:solidFill>
                <a:latin typeface="Tahoma"/>
                <a:cs typeface="Tahoma"/>
              </a:rPr>
              <a:t>GOWTHAM S </a:t>
            </a:r>
            <a:r>
              <a:rPr lang="en-IN" sz="1600" b="1" spc="-50" dirty="0">
                <a:solidFill>
                  <a:srgbClr val="FFFFFF"/>
                </a:solidFill>
                <a:latin typeface="Tahoma"/>
                <a:cs typeface="Tahoma"/>
              </a:rPr>
              <a:t>1971260007</a:t>
            </a:r>
            <a:endParaRPr lang="en-IN" sz="1600" dirty="0">
              <a:latin typeface="Tahoma"/>
              <a:cs typeface="Tahoma"/>
            </a:endParaRPr>
          </a:p>
          <a:p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E9F40C-CDCB-F5F9-B0D8-BE23E5B12A2B}"/>
              </a:ext>
            </a:extLst>
          </p:cNvPr>
          <p:cNvSpPr/>
          <p:nvPr/>
        </p:nvSpPr>
        <p:spPr>
          <a:xfrm>
            <a:off x="4724400" y="3700358"/>
            <a:ext cx="1850730" cy="6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470624-4196-2957-AC03-B1B94A2FE768}"/>
              </a:ext>
            </a:extLst>
          </p:cNvPr>
          <p:cNvSpPr txBox="1"/>
          <p:nvPr/>
        </p:nvSpPr>
        <p:spPr>
          <a:xfrm>
            <a:off x="4885543" y="3722843"/>
            <a:ext cx="245600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spc="-10" dirty="0">
                <a:solidFill>
                  <a:srgbClr val="FFFFFF"/>
                </a:solidFill>
                <a:latin typeface="Tahoma"/>
                <a:cs typeface="Tahoma"/>
              </a:rPr>
              <a:t>SIDHARDHA V 1965260034</a:t>
            </a:r>
            <a:endParaRPr lang="en-IN" sz="1600" dirty="0">
              <a:latin typeface="Tahoma"/>
              <a:cs typeface="Tahoma"/>
            </a:endParaRPr>
          </a:p>
          <a:p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3324E8-093A-2793-E829-01BA5C9E5E88}"/>
              </a:ext>
            </a:extLst>
          </p:cNvPr>
          <p:cNvSpPr/>
          <p:nvPr/>
        </p:nvSpPr>
        <p:spPr>
          <a:xfrm>
            <a:off x="8150900" y="3700358"/>
            <a:ext cx="2288500" cy="6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4C5EE1-8362-C310-7849-851717846FF3}"/>
              </a:ext>
            </a:extLst>
          </p:cNvPr>
          <p:cNvSpPr txBox="1"/>
          <p:nvPr/>
        </p:nvSpPr>
        <p:spPr>
          <a:xfrm>
            <a:off x="8498720" y="3700358"/>
            <a:ext cx="2288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spc="-10" dirty="0">
                <a:solidFill>
                  <a:srgbClr val="FFFFFF"/>
                </a:solidFill>
                <a:latin typeface="Tahoma"/>
                <a:cs typeface="Tahoma"/>
              </a:rPr>
              <a:t>    GOKUL</a:t>
            </a:r>
            <a:r>
              <a:rPr lang="en-IN" b="1" spc="-10" dirty="0">
                <a:solidFill>
                  <a:srgbClr val="FFFFFF"/>
                </a:solidFill>
                <a:latin typeface="Tahoma"/>
                <a:cs typeface="Tahoma"/>
              </a:rPr>
              <a:t> K</a:t>
            </a:r>
            <a:r>
              <a:rPr lang="en-IN" sz="18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IN" sz="1800" b="1" spc="-90" dirty="0">
                <a:solidFill>
                  <a:srgbClr val="FFFFFF"/>
                </a:solidFill>
                <a:latin typeface="Tahoma"/>
                <a:cs typeface="Tahoma"/>
              </a:rPr>
              <a:t>1911260026</a:t>
            </a:r>
            <a:endParaRPr lang="en-IN" sz="1800" dirty="0">
              <a:latin typeface="Tahoma"/>
              <a:cs typeface="Tahoma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657626"/>
            <a:ext cx="5356345" cy="39478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2687" y="2657626"/>
            <a:ext cx="5356345" cy="39478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6775" y="2981477"/>
            <a:ext cx="266699" cy="2095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57962" y="2981477"/>
            <a:ext cx="209549" cy="2095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54075" y="2932096"/>
            <a:ext cx="4626610" cy="32925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015">
              <a:lnSpc>
                <a:spcPct val="100000"/>
              </a:lnSpc>
              <a:spcBef>
                <a:spcPts val="100"/>
              </a:spcBef>
            </a:pPr>
            <a:r>
              <a:rPr spc="-45" dirty="0">
                <a:solidFill>
                  <a:srgbClr val="0183C7"/>
                </a:solidFill>
                <a:latin typeface="Arial Black"/>
                <a:cs typeface="Arial Black"/>
              </a:rPr>
              <a:t>Modern</a:t>
            </a:r>
            <a:r>
              <a:rPr spc="-90" dirty="0">
                <a:solidFill>
                  <a:srgbClr val="0183C7"/>
                </a:solidFill>
                <a:latin typeface="Arial Black"/>
                <a:cs typeface="Arial Black"/>
              </a:rPr>
              <a:t> </a:t>
            </a:r>
            <a:r>
              <a:rPr spc="-125" dirty="0">
                <a:solidFill>
                  <a:srgbClr val="0183C7"/>
                </a:solidFill>
                <a:latin typeface="Arial Black"/>
                <a:cs typeface="Arial Black"/>
              </a:rPr>
              <a:t>Academic</a:t>
            </a:r>
            <a:r>
              <a:rPr spc="-90" dirty="0">
                <a:solidFill>
                  <a:srgbClr val="0183C7"/>
                </a:solidFill>
                <a:latin typeface="Arial Black"/>
                <a:cs typeface="Arial Black"/>
              </a:rPr>
              <a:t> </a:t>
            </a:r>
            <a:r>
              <a:rPr spc="-20" dirty="0">
                <a:solidFill>
                  <a:srgbClr val="0183C7"/>
                </a:solidFill>
                <a:latin typeface="Arial Black"/>
                <a:cs typeface="Arial Black"/>
              </a:rPr>
              <a:t>Need</a:t>
            </a:r>
            <a:endParaRPr dirty="0">
              <a:latin typeface="Arial Black"/>
              <a:cs typeface="Arial Black"/>
            </a:endParaRPr>
          </a:p>
          <a:p>
            <a:pPr marL="12700" marR="5080">
              <a:lnSpc>
                <a:spcPct val="156200"/>
              </a:lnSpc>
              <a:spcBef>
                <a:spcPts val="305"/>
              </a:spcBef>
            </a:pP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Higher</a:t>
            </a:r>
            <a:r>
              <a:rPr lang="en-IN" spc="2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education</a:t>
            </a:r>
            <a:r>
              <a:rPr lang="en-IN" spc="2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institutions</a:t>
            </a:r>
            <a:r>
              <a:rPr lang="en-IN" spc="2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are</a:t>
            </a:r>
            <a:r>
              <a:rPr spc="4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transitioning</a:t>
            </a:r>
            <a:r>
              <a:rPr spc="4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rapidly</a:t>
            </a:r>
            <a:r>
              <a:rPr spc="4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-20" dirty="0">
                <a:solidFill>
                  <a:srgbClr val="465469"/>
                </a:solidFill>
                <a:latin typeface="Tahoma"/>
                <a:cs typeface="Tahoma"/>
              </a:rPr>
              <a:t>from</a:t>
            </a:r>
            <a:r>
              <a:rPr spc="500" dirty="0">
                <a:solidFill>
                  <a:srgbClr val="465469"/>
                </a:solidFill>
                <a:latin typeface="Tahoma"/>
                <a:cs typeface="Tahoma"/>
              </a:rPr>
              <a:t> 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physical</a:t>
            </a:r>
            <a:r>
              <a:rPr spc="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print</a:t>
            </a:r>
            <a:r>
              <a:rPr spc="10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media</a:t>
            </a:r>
            <a:r>
              <a:rPr spc="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to</a:t>
            </a:r>
            <a:r>
              <a:rPr spc="10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digitized</a:t>
            </a:r>
            <a:r>
              <a:rPr spc="10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learning</a:t>
            </a:r>
            <a:r>
              <a:rPr spc="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assets.</a:t>
            </a:r>
            <a:r>
              <a:rPr spc="10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Managing</a:t>
            </a:r>
            <a:r>
              <a:rPr spc="10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65469"/>
                </a:solidFill>
                <a:latin typeface="Tahoma"/>
                <a:cs typeface="Tahoma"/>
              </a:rPr>
              <a:t>digital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books,</a:t>
            </a:r>
            <a:r>
              <a:rPr spc="10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e-journals,</a:t>
            </a:r>
            <a:r>
              <a:rPr spc="11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lecture</a:t>
            </a:r>
            <a:r>
              <a:rPr spc="11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media,</a:t>
            </a:r>
            <a:r>
              <a:rPr spc="11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and</a:t>
            </a:r>
            <a:r>
              <a:rPr spc="11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research</a:t>
            </a:r>
            <a:r>
              <a:rPr spc="11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65469"/>
                </a:solidFill>
                <a:latin typeface="Tahoma"/>
                <a:cs typeface="Tahoma"/>
              </a:rPr>
              <a:t>repositories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requires</a:t>
            </a:r>
            <a:r>
              <a:rPr spc="4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systematic</a:t>
            </a:r>
            <a:r>
              <a:rPr spc="4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80" dirty="0">
                <a:solidFill>
                  <a:srgbClr val="465469"/>
                </a:solidFill>
                <a:latin typeface="Tahoma"/>
                <a:cs typeface="Tahoma"/>
              </a:rPr>
              <a:t>access</a:t>
            </a:r>
            <a:r>
              <a:rPr spc="4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control</a:t>
            </a:r>
            <a:r>
              <a:rPr spc="4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and</a:t>
            </a:r>
            <a:r>
              <a:rPr spc="4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streamlined</a:t>
            </a:r>
            <a:r>
              <a:rPr spc="4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65469"/>
                </a:solidFill>
                <a:latin typeface="Tahoma"/>
                <a:cs typeface="Tahoma"/>
              </a:rPr>
              <a:t>digital indexing.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5262" y="2932096"/>
            <a:ext cx="4649470" cy="3673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100"/>
              </a:spcBef>
            </a:pPr>
            <a:r>
              <a:rPr sz="2000" spc="-110" dirty="0">
                <a:solidFill>
                  <a:srgbClr val="0183C7"/>
                </a:solidFill>
                <a:latin typeface="Arial Black"/>
                <a:cs typeface="Arial Black"/>
              </a:rPr>
              <a:t>Paperless</a:t>
            </a:r>
            <a:r>
              <a:rPr sz="2000" spc="-55" dirty="0">
                <a:solidFill>
                  <a:srgbClr val="0183C7"/>
                </a:solidFill>
                <a:latin typeface="Arial Black"/>
                <a:cs typeface="Arial Black"/>
              </a:rPr>
              <a:t> </a:t>
            </a:r>
            <a:r>
              <a:rPr sz="2000" spc="-25" dirty="0">
                <a:solidFill>
                  <a:srgbClr val="0183C7"/>
                </a:solidFill>
                <a:latin typeface="Arial Black"/>
                <a:cs typeface="Arial Black"/>
              </a:rPr>
              <a:t>Ecosystem</a:t>
            </a:r>
            <a:endParaRPr sz="2000" dirty="0">
              <a:latin typeface="Arial Black"/>
              <a:cs typeface="Arial Black"/>
            </a:endParaRPr>
          </a:p>
          <a:p>
            <a:pPr marL="12700" marR="5080">
              <a:lnSpc>
                <a:spcPct val="157200"/>
              </a:lnSpc>
              <a:spcBef>
                <a:spcPts val="305"/>
              </a:spcBef>
            </a:pP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Apaperless</a:t>
            </a:r>
            <a:r>
              <a:rPr sz="2000" spc="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465469"/>
                </a:solidFill>
                <a:latin typeface="Tahoma"/>
                <a:cs typeface="Tahoma"/>
              </a:rPr>
              <a:t>learning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465469"/>
                </a:solidFill>
                <a:latin typeface="Tahoma"/>
                <a:cs typeface="Tahoma"/>
              </a:rPr>
              <a:t>resourcesystem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465469"/>
                </a:solidFill>
                <a:latin typeface="Tahoma"/>
                <a:cs typeface="Tahoma"/>
              </a:rPr>
              <a:t>eliminates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65469"/>
                </a:solidFill>
                <a:latin typeface="Tahoma"/>
                <a:cs typeface="Tahoma"/>
              </a:rPr>
              <a:t>manual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paperwork,</a:t>
            </a:r>
            <a:r>
              <a:rPr sz="2000" spc="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465469"/>
                </a:solidFill>
                <a:latin typeface="Tahoma"/>
                <a:cs typeface="Tahoma"/>
              </a:rPr>
              <a:t>physical</a:t>
            </a:r>
            <a:r>
              <a:rPr sz="2000" spc="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ledger</a:t>
            </a:r>
            <a:r>
              <a:rPr sz="2000" spc="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logging,</a:t>
            </a:r>
            <a:r>
              <a:rPr sz="2000" spc="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and</a:t>
            </a:r>
            <a:r>
              <a:rPr sz="2000" spc="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lost</a:t>
            </a:r>
            <a:r>
              <a:rPr sz="2000" spc="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book</a:t>
            </a:r>
            <a:r>
              <a:rPr sz="2000" spc="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entries.</a:t>
            </a:r>
            <a:r>
              <a:rPr sz="2000" spc="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465469"/>
                </a:solidFill>
                <a:latin typeface="Tahoma"/>
                <a:cs typeface="Tahoma"/>
              </a:rPr>
              <a:t>It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facilitates</a:t>
            </a:r>
            <a:r>
              <a:rPr sz="2000"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instant</a:t>
            </a:r>
            <a:r>
              <a:rPr sz="2000" spc="9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digital</a:t>
            </a:r>
            <a:r>
              <a:rPr sz="2000"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465469"/>
                </a:solidFill>
                <a:latin typeface="Tahoma"/>
                <a:cs typeface="Tahoma"/>
              </a:rPr>
              <a:t>checkouts,</a:t>
            </a:r>
            <a:r>
              <a:rPr sz="2000" spc="9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continuous</a:t>
            </a:r>
            <a:r>
              <a:rPr sz="2000"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65469"/>
                </a:solidFill>
                <a:latin typeface="Tahoma"/>
                <a:cs typeface="Tahoma"/>
              </a:rPr>
              <a:t>availability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monitoring,</a:t>
            </a:r>
            <a:r>
              <a:rPr sz="2000"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and</a:t>
            </a:r>
            <a:r>
              <a:rPr sz="2000"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465469"/>
                </a:solidFill>
                <a:latin typeface="Tahoma"/>
                <a:cs typeface="Tahoma"/>
              </a:rPr>
              <a:t>eco-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friendly</a:t>
            </a:r>
            <a:r>
              <a:rPr sz="2000" spc="9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institutional</a:t>
            </a:r>
            <a:r>
              <a:rPr sz="2000"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resource</a:t>
            </a:r>
            <a:r>
              <a:rPr sz="2000" spc="9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65469"/>
                </a:solidFill>
                <a:latin typeface="Tahoma"/>
                <a:cs typeface="Tahoma"/>
              </a:rPr>
              <a:t>administration.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95296" y="1563247"/>
            <a:ext cx="11201406" cy="941330"/>
          </a:xfrm>
          <a:prstGeom prst="rect">
            <a:avLst/>
          </a:prstGeom>
        </p:spPr>
        <p:txBody>
          <a:bodyPr vert="horz" wrap="square" lIns="0" tIns="383586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00"/>
              </a:spcBef>
            </a:pPr>
            <a:r>
              <a:rPr lang="en-IN" spc="-75" dirty="0">
                <a:solidFill>
                  <a:srgbClr val="0E1729"/>
                </a:solidFill>
              </a:rPr>
              <a:t>Introduction</a:t>
            </a:r>
            <a:endParaRPr dirty="0"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30308"/>
            <a:ext cx="12039601" cy="10589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296" y="2572783"/>
            <a:ext cx="209553" cy="365517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0750" y="2440825"/>
            <a:ext cx="10280015" cy="4168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334054"/>
                </a:solidFill>
                <a:latin typeface="Tahoma"/>
                <a:cs typeface="Tahoma"/>
              </a:rPr>
              <a:t>Manual</a:t>
            </a:r>
            <a:r>
              <a:rPr sz="2000" b="1" spc="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334054"/>
                </a:solidFill>
                <a:latin typeface="Tahoma"/>
                <a:cs typeface="Tahoma"/>
              </a:rPr>
              <a:t>Overhead</a:t>
            </a:r>
            <a:r>
              <a:rPr sz="2000" b="1" spc="1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spc="-135" dirty="0">
                <a:solidFill>
                  <a:srgbClr val="334054"/>
                </a:solidFill>
                <a:latin typeface="Tahoma"/>
                <a:cs typeface="Tahoma"/>
              </a:rPr>
              <a:t>&amp;</a:t>
            </a:r>
            <a:r>
              <a:rPr sz="2000" b="1" spc="1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334054"/>
                </a:solidFill>
                <a:latin typeface="Tahoma"/>
                <a:cs typeface="Tahoma"/>
              </a:rPr>
              <a:t>Inefficiencies:</a:t>
            </a:r>
            <a:r>
              <a:rPr sz="2000" b="1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Traditional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libraries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rely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 on paper </a:t>
            </a:r>
            <a:r>
              <a:rPr sz="2000" spc="60" dirty="0">
                <a:solidFill>
                  <a:srgbClr val="334054"/>
                </a:solidFill>
                <a:latin typeface="Tahoma"/>
                <a:cs typeface="Tahoma"/>
              </a:rPr>
              <a:t>records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334054"/>
                </a:solidFill>
                <a:latin typeface="Tahoma"/>
                <a:cs typeface="Tahoma"/>
              </a:rPr>
              <a:t>and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334054"/>
                </a:solidFill>
                <a:latin typeface="Tahoma"/>
                <a:cs typeface="Tahoma"/>
              </a:rPr>
              <a:t>physical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register</a:t>
            </a:r>
            <a:r>
              <a:rPr sz="2000" spc="6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logs,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334054"/>
                </a:solidFill>
                <a:latin typeface="Tahoma"/>
                <a:cs typeface="Tahoma"/>
              </a:rPr>
              <a:t>causing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long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 queues </a:t>
            </a:r>
            <a:r>
              <a:rPr sz="2000" spc="50" dirty="0">
                <a:solidFill>
                  <a:srgbClr val="334054"/>
                </a:solidFill>
                <a:latin typeface="Tahoma"/>
                <a:cs typeface="Tahoma"/>
              </a:rPr>
              <a:t>and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334054"/>
                </a:solidFill>
                <a:latin typeface="Tahoma"/>
                <a:cs typeface="Tahoma"/>
              </a:rPr>
              <a:t>heavy </a:t>
            </a:r>
            <a:r>
              <a:rPr sz="2000" spc="50" dirty="0">
                <a:solidFill>
                  <a:srgbClr val="334054"/>
                </a:solidFill>
                <a:latin typeface="Tahoma"/>
                <a:cs typeface="Tahoma"/>
              </a:rPr>
              <a:t>clerical</a:t>
            </a:r>
            <a:r>
              <a:rPr sz="2000" spc="-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334054"/>
                </a:solidFill>
                <a:latin typeface="Tahoma"/>
                <a:cs typeface="Tahoma"/>
              </a:rPr>
              <a:t>workloads.</a:t>
            </a:r>
            <a:endParaRPr sz="2000" dirty="0">
              <a:latin typeface="Tahoma"/>
              <a:cs typeface="Tahoma"/>
            </a:endParaRPr>
          </a:p>
          <a:p>
            <a:pPr marL="12700" marR="465455">
              <a:lnSpc>
                <a:spcPct val="150000"/>
              </a:lnSpc>
              <a:spcBef>
                <a:spcPts val="450"/>
              </a:spcBef>
            </a:pPr>
            <a:r>
              <a:rPr sz="2000" b="1" dirty="0">
                <a:solidFill>
                  <a:srgbClr val="334054"/>
                </a:solidFill>
                <a:latin typeface="Tahoma"/>
                <a:cs typeface="Tahoma"/>
              </a:rPr>
              <a:t>Resource</a:t>
            </a:r>
            <a:r>
              <a:rPr sz="2000" b="1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334054"/>
                </a:solidFill>
                <a:latin typeface="Tahoma"/>
                <a:cs typeface="Tahoma"/>
              </a:rPr>
              <a:t>Misplacement</a:t>
            </a:r>
            <a:r>
              <a:rPr sz="2000" b="1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spc="-135" dirty="0">
                <a:solidFill>
                  <a:srgbClr val="334054"/>
                </a:solidFill>
                <a:latin typeface="Tahoma"/>
                <a:cs typeface="Tahoma"/>
              </a:rPr>
              <a:t>&amp;</a:t>
            </a:r>
            <a:r>
              <a:rPr sz="2000" b="1" spc="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334054"/>
                </a:solidFill>
                <a:latin typeface="Tahoma"/>
                <a:cs typeface="Tahoma"/>
              </a:rPr>
              <a:t>Loss:</a:t>
            </a:r>
            <a:r>
              <a:rPr sz="2000" b="1" spc="10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Tracking</a:t>
            </a:r>
            <a:r>
              <a:rPr sz="2000" spc="8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borrowing</a:t>
            </a:r>
            <a:r>
              <a:rPr sz="20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histories</a:t>
            </a:r>
            <a:r>
              <a:rPr sz="20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334054"/>
                </a:solidFill>
                <a:latin typeface="Tahoma"/>
                <a:cs typeface="Tahoma"/>
              </a:rPr>
              <a:t>and</a:t>
            </a:r>
            <a:r>
              <a:rPr sz="2000" spc="8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334054"/>
                </a:solidFill>
                <a:latin typeface="Tahoma"/>
                <a:cs typeface="Tahoma"/>
              </a:rPr>
              <a:t>active</a:t>
            </a:r>
            <a:r>
              <a:rPr sz="20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334054"/>
                </a:solidFill>
                <a:latin typeface="Tahoma"/>
                <a:cs typeface="Tahoma"/>
              </a:rPr>
              <a:t>document</a:t>
            </a:r>
            <a:r>
              <a:rPr sz="2000" spc="8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availability</a:t>
            </a:r>
            <a:r>
              <a:rPr sz="20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manually</a:t>
            </a:r>
            <a:r>
              <a:rPr sz="2000" spc="8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leads</a:t>
            </a:r>
            <a:r>
              <a:rPr sz="20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to</a:t>
            </a:r>
            <a:r>
              <a:rPr sz="2000" spc="8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334054"/>
                </a:solidFill>
                <a:latin typeface="Tahoma"/>
                <a:cs typeface="Tahoma"/>
              </a:rPr>
              <a:t>missing</a:t>
            </a:r>
            <a:r>
              <a:rPr sz="20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files</a:t>
            </a:r>
            <a:r>
              <a:rPr sz="2000" spc="8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25" dirty="0">
                <a:solidFill>
                  <a:srgbClr val="334054"/>
                </a:solidFill>
                <a:latin typeface="Tahoma"/>
                <a:cs typeface="Tahoma"/>
              </a:rPr>
              <a:t>and </a:t>
            </a:r>
            <a:r>
              <a:rPr sz="2000" spc="50" dirty="0">
                <a:solidFill>
                  <a:srgbClr val="334054"/>
                </a:solidFill>
                <a:latin typeface="Tahoma"/>
                <a:cs typeface="Tahoma"/>
              </a:rPr>
              <a:t>untracked</a:t>
            </a:r>
            <a:r>
              <a:rPr sz="2000" spc="-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overdue</a:t>
            </a:r>
            <a:r>
              <a:rPr sz="2000" spc="-1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334054"/>
                </a:solidFill>
                <a:latin typeface="Tahoma"/>
                <a:cs typeface="Tahoma"/>
              </a:rPr>
              <a:t>materials.</a:t>
            </a:r>
            <a:endParaRPr sz="2000" dirty="0">
              <a:latin typeface="Tahoma"/>
              <a:cs typeface="Tahoma"/>
            </a:endParaRPr>
          </a:p>
          <a:p>
            <a:pPr marL="12700" marR="837565">
              <a:lnSpc>
                <a:spcPct val="150000"/>
              </a:lnSpc>
            </a:pPr>
            <a:r>
              <a:rPr sz="2000" b="1" dirty="0">
                <a:solidFill>
                  <a:srgbClr val="334054"/>
                </a:solidFill>
                <a:latin typeface="Tahoma"/>
                <a:cs typeface="Tahoma"/>
              </a:rPr>
              <a:t>Physical</a:t>
            </a:r>
            <a:r>
              <a:rPr sz="2000" b="1"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334054"/>
                </a:solidFill>
                <a:latin typeface="Tahoma"/>
                <a:cs typeface="Tahoma"/>
              </a:rPr>
              <a:t>Space</a:t>
            </a:r>
            <a:r>
              <a:rPr sz="2000" b="1"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spc="-135" dirty="0">
                <a:solidFill>
                  <a:srgbClr val="334054"/>
                </a:solidFill>
                <a:latin typeface="Tahoma"/>
                <a:cs typeface="Tahoma"/>
              </a:rPr>
              <a:t>&amp;</a:t>
            </a:r>
            <a:r>
              <a:rPr sz="2000" b="1" spc="5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334054"/>
                </a:solidFill>
                <a:latin typeface="Tahoma"/>
                <a:cs typeface="Tahoma"/>
              </a:rPr>
              <a:t>Ecological</a:t>
            </a:r>
            <a:r>
              <a:rPr sz="2000" b="1"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spc="-55" dirty="0">
                <a:solidFill>
                  <a:srgbClr val="334054"/>
                </a:solidFill>
                <a:latin typeface="Tahoma"/>
                <a:cs typeface="Tahoma"/>
              </a:rPr>
              <a:t>Impact:</a:t>
            </a:r>
            <a:r>
              <a:rPr sz="2000" b="1" spc="12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334054"/>
                </a:solidFill>
                <a:latin typeface="Tahoma"/>
                <a:cs typeface="Tahoma"/>
              </a:rPr>
              <a:t>Heavy</a:t>
            </a:r>
            <a:r>
              <a:rPr sz="2000" spc="10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reliance</a:t>
            </a:r>
            <a:r>
              <a:rPr sz="2000" spc="10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on</a:t>
            </a:r>
            <a:r>
              <a:rPr sz="2000" spc="10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printed</a:t>
            </a:r>
            <a:r>
              <a:rPr sz="2000" spc="10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paper</a:t>
            </a:r>
            <a:r>
              <a:rPr sz="2000" spc="10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leads</a:t>
            </a:r>
            <a:r>
              <a:rPr sz="2000" spc="10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to</a:t>
            </a:r>
            <a:r>
              <a:rPr sz="2000" spc="10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high</a:t>
            </a:r>
            <a:r>
              <a:rPr sz="2000" spc="10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operational</a:t>
            </a:r>
            <a:r>
              <a:rPr sz="2000" spc="10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costs,</a:t>
            </a:r>
            <a:r>
              <a:rPr sz="2000" spc="10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spatial</a:t>
            </a:r>
            <a:r>
              <a:rPr sz="2000" spc="10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constraints,</a:t>
            </a:r>
            <a:r>
              <a:rPr sz="2000" spc="10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25" dirty="0">
                <a:solidFill>
                  <a:srgbClr val="334054"/>
                </a:solidFill>
                <a:latin typeface="Tahoma"/>
                <a:cs typeface="Tahoma"/>
              </a:rPr>
              <a:t>and </a:t>
            </a:r>
            <a:r>
              <a:rPr sz="2000" spc="20" dirty="0">
                <a:solidFill>
                  <a:srgbClr val="334054"/>
                </a:solidFill>
                <a:latin typeface="Tahoma"/>
                <a:cs typeface="Tahoma"/>
              </a:rPr>
              <a:t>environmental</a:t>
            </a:r>
            <a:r>
              <a:rPr sz="2000" spc="2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334054"/>
                </a:solidFill>
                <a:latin typeface="Tahoma"/>
                <a:cs typeface="Tahoma"/>
              </a:rPr>
              <a:t>waste.</a:t>
            </a:r>
            <a:endParaRPr sz="2000" dirty="0">
              <a:latin typeface="Tahoma"/>
              <a:cs typeface="Tahoma"/>
            </a:endParaRPr>
          </a:p>
          <a:p>
            <a:pPr marL="12700" marR="384175">
              <a:lnSpc>
                <a:spcPct val="150000"/>
              </a:lnSpc>
            </a:pPr>
            <a:r>
              <a:rPr sz="2000" b="1" dirty="0">
                <a:solidFill>
                  <a:srgbClr val="334054"/>
                </a:solidFill>
                <a:latin typeface="Tahoma"/>
                <a:cs typeface="Tahoma"/>
              </a:rPr>
              <a:t>Lack</a:t>
            </a:r>
            <a:r>
              <a:rPr sz="2000" b="1" spc="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334054"/>
                </a:solidFill>
                <a:latin typeface="Tahoma"/>
                <a:cs typeface="Tahoma"/>
              </a:rPr>
              <a:t>of</a:t>
            </a:r>
            <a:r>
              <a:rPr sz="2000" b="1" spc="6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spc="-60" dirty="0">
                <a:solidFill>
                  <a:srgbClr val="334054"/>
                </a:solidFill>
                <a:latin typeface="Tahoma"/>
                <a:cs typeface="Tahoma"/>
              </a:rPr>
              <a:t>Instant</a:t>
            </a:r>
            <a:r>
              <a:rPr sz="2000" b="1" spc="6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334054"/>
                </a:solidFill>
                <a:latin typeface="Tahoma"/>
                <a:cs typeface="Tahoma"/>
              </a:rPr>
              <a:t>Analytics:</a:t>
            </a:r>
            <a:r>
              <a:rPr sz="2000" b="1" spc="1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Librarians</a:t>
            </a:r>
            <a:r>
              <a:rPr sz="2000" spc="114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334054"/>
                </a:solidFill>
                <a:latin typeface="Tahoma"/>
                <a:cs typeface="Tahoma"/>
              </a:rPr>
              <a:t>lack</a:t>
            </a:r>
            <a:r>
              <a:rPr sz="2000" spc="114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real-time</a:t>
            </a:r>
            <a:r>
              <a:rPr sz="2000" spc="114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visibility</a:t>
            </a:r>
            <a:r>
              <a:rPr sz="2000" spc="114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into</a:t>
            </a:r>
            <a:r>
              <a:rPr sz="2000" spc="1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current</a:t>
            </a:r>
            <a:r>
              <a:rPr sz="2000" spc="114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resource</a:t>
            </a:r>
            <a:r>
              <a:rPr sz="2000" spc="114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utilization</a:t>
            </a:r>
            <a:r>
              <a:rPr sz="2000" spc="114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patterns,</a:t>
            </a:r>
            <a:r>
              <a:rPr sz="2000" spc="114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334054"/>
                </a:solidFill>
                <a:latin typeface="Tahoma"/>
                <a:cs typeface="Tahoma"/>
              </a:rPr>
              <a:t>active</a:t>
            </a:r>
            <a:r>
              <a:rPr sz="2000" spc="114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download</a:t>
            </a:r>
            <a:r>
              <a:rPr sz="2000" spc="114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334054"/>
                </a:solidFill>
                <a:latin typeface="Tahoma"/>
                <a:cs typeface="Tahoma"/>
              </a:rPr>
              <a:t>licenses,</a:t>
            </a:r>
            <a:r>
              <a:rPr sz="2000" spc="114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25" dirty="0">
                <a:solidFill>
                  <a:srgbClr val="334054"/>
                </a:solidFill>
                <a:latin typeface="Tahoma"/>
                <a:cs typeface="Tahoma"/>
              </a:rPr>
              <a:t>and </a:t>
            </a:r>
            <a:r>
              <a:rPr sz="2000" spc="50" dirty="0">
                <a:solidFill>
                  <a:srgbClr val="334054"/>
                </a:solidFill>
                <a:latin typeface="Tahoma"/>
                <a:cs typeface="Tahoma"/>
              </a:rPr>
              <a:t>member</a:t>
            </a:r>
            <a:r>
              <a:rPr sz="2000" spc="-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334054"/>
                </a:solidFill>
                <a:latin typeface="Tahoma"/>
                <a:cs typeface="Tahoma"/>
              </a:rPr>
              <a:t>traffic.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5296" y="1563247"/>
            <a:ext cx="1120140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00"/>
              </a:spcBef>
            </a:pPr>
            <a:r>
              <a:rPr sz="3200" spc="-110" dirty="0">
                <a:solidFill>
                  <a:srgbClr val="0E1729"/>
                </a:solidFill>
              </a:rPr>
              <a:t>Problem</a:t>
            </a:r>
            <a:r>
              <a:rPr sz="3200" spc="-100" dirty="0">
                <a:solidFill>
                  <a:srgbClr val="0E1729"/>
                </a:solidFill>
              </a:rPr>
              <a:t> </a:t>
            </a:r>
            <a:r>
              <a:rPr sz="3200" spc="-105" dirty="0">
                <a:solidFill>
                  <a:srgbClr val="0E1729"/>
                </a:solidFill>
              </a:rPr>
              <a:t>Statement</a:t>
            </a:r>
            <a:endParaRPr sz="3200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0657" cy="10589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1" y="2286000"/>
            <a:ext cx="3409948" cy="41147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0078" y="2286000"/>
            <a:ext cx="7286624" cy="39862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800" y="2400301"/>
            <a:ext cx="495299" cy="495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81525" y="2400301"/>
            <a:ext cx="495299" cy="495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43900" y="2438400"/>
            <a:ext cx="495299" cy="495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3000" y="2514600"/>
            <a:ext cx="266699" cy="2095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10112" y="2533651"/>
            <a:ext cx="238124" cy="2095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86775" y="2590800"/>
            <a:ext cx="209549" cy="2095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60916" y="3001766"/>
            <a:ext cx="3011806" cy="30308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5" dirty="0">
                <a:solidFill>
                  <a:srgbClr val="0E1729"/>
                </a:solidFill>
                <a:latin typeface="Arial Black"/>
                <a:cs typeface="Arial Black"/>
              </a:rPr>
              <a:t>Automate</a:t>
            </a:r>
            <a:r>
              <a:rPr sz="2000" spc="-8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0E1729"/>
                </a:solidFill>
                <a:latin typeface="Arial Black"/>
                <a:cs typeface="Arial Black"/>
              </a:rPr>
              <a:t>Operations</a:t>
            </a:r>
            <a:endParaRPr sz="2000" dirty="0">
              <a:latin typeface="Arial Black"/>
              <a:cs typeface="Arial Black"/>
            </a:endParaRPr>
          </a:p>
          <a:p>
            <a:pPr marL="12700" marR="5080">
              <a:lnSpc>
                <a:spcPct val="147700"/>
              </a:lnSpc>
              <a:spcBef>
                <a:spcPts val="300"/>
              </a:spcBef>
            </a:pPr>
            <a:r>
              <a:rPr sz="2000" spc="55" dirty="0">
                <a:solidFill>
                  <a:srgbClr val="64738B"/>
                </a:solidFill>
                <a:latin typeface="Tahoma"/>
                <a:cs typeface="Tahoma"/>
              </a:rPr>
              <a:t>Develop</a:t>
            </a:r>
            <a:r>
              <a:rPr sz="2000" spc="-2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a</a:t>
            </a:r>
            <a:r>
              <a:rPr sz="2000" spc="-1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64738B"/>
                </a:solidFill>
                <a:latin typeface="Tahoma"/>
                <a:cs typeface="Tahoma"/>
              </a:rPr>
              <a:t>software</a:t>
            </a:r>
            <a:r>
              <a:rPr lang="en-IN" sz="2000" spc="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64738B"/>
                </a:solidFill>
                <a:latin typeface="Tahoma"/>
                <a:cs typeface="Tahoma"/>
              </a:rPr>
              <a:t>core</a:t>
            </a:r>
            <a:r>
              <a:rPr sz="2000" spc="-1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64738B"/>
                </a:solidFill>
                <a:latin typeface="Tahoma"/>
                <a:cs typeface="Tahoma"/>
              </a:rPr>
              <a:t>to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handle</a:t>
            </a:r>
            <a:r>
              <a:rPr sz="2000" spc="7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64738B"/>
                </a:solidFill>
                <a:latin typeface="Tahoma"/>
                <a:cs typeface="Tahoma"/>
              </a:rPr>
              <a:t>book</a:t>
            </a:r>
            <a:r>
              <a:rPr sz="2000" spc="7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issuance,</a:t>
            </a:r>
            <a:r>
              <a:rPr sz="2000" spc="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return</a:t>
            </a:r>
            <a:r>
              <a:rPr sz="2000" spc="7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tracking,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member</a:t>
            </a:r>
            <a:r>
              <a:rPr sz="2000" spc="11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authentication,</a:t>
            </a:r>
            <a:r>
              <a:rPr sz="2000" spc="114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sz="2000" spc="114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catalog </a:t>
            </a:r>
            <a:r>
              <a:rPr sz="2000" spc="60" dirty="0">
                <a:solidFill>
                  <a:srgbClr val="64738B"/>
                </a:solidFill>
                <a:latin typeface="Tahoma"/>
                <a:cs typeface="Tahoma"/>
              </a:rPr>
              <a:t>searches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64738B"/>
                </a:solidFill>
                <a:latin typeface="Tahoma"/>
                <a:cs typeface="Tahoma"/>
              </a:rPr>
              <a:t>seamlessly.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86287" y="2967037"/>
            <a:ext cx="2882900" cy="30308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60" dirty="0">
                <a:solidFill>
                  <a:srgbClr val="0E1729"/>
                </a:solidFill>
                <a:latin typeface="Arial Black"/>
                <a:cs typeface="Arial Black"/>
              </a:rPr>
              <a:t>Digital</a:t>
            </a:r>
            <a:r>
              <a:rPr sz="2000" spc="-8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0E1729"/>
                </a:solidFill>
                <a:latin typeface="Arial Black"/>
                <a:cs typeface="Arial Black"/>
              </a:rPr>
              <a:t>Cataloging</a:t>
            </a:r>
            <a:endParaRPr sz="2000" dirty="0">
              <a:latin typeface="Arial Black"/>
              <a:cs typeface="Arial Black"/>
            </a:endParaRPr>
          </a:p>
          <a:p>
            <a:pPr marL="12700" marR="5080">
              <a:lnSpc>
                <a:spcPct val="147700"/>
              </a:lnSpc>
              <a:spcBef>
                <a:spcPts val="300"/>
              </a:spcBef>
            </a:pP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Implement</a:t>
            </a:r>
            <a:r>
              <a:rPr sz="2000" spc="39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structured</a:t>
            </a:r>
            <a:r>
              <a:rPr lang="en-IN" sz="20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data</a:t>
            </a:r>
            <a:r>
              <a:rPr lang="en-IN" sz="20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models</a:t>
            </a:r>
            <a:r>
              <a:rPr sz="2000" spc="39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for</a:t>
            </a:r>
            <a:r>
              <a:rPr sz="2000" spc="39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digital </a:t>
            </a:r>
            <a:r>
              <a:rPr sz="2000" spc="60" dirty="0">
                <a:solidFill>
                  <a:srgbClr val="64738B"/>
                </a:solidFill>
                <a:latin typeface="Tahoma"/>
                <a:cs typeface="Tahoma"/>
              </a:rPr>
              <a:t>resources</a:t>
            </a:r>
            <a:r>
              <a:rPr sz="2000" spc="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including</a:t>
            </a:r>
            <a:r>
              <a:rPr sz="20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64738B"/>
                </a:solidFill>
                <a:latin typeface="Tahoma"/>
                <a:cs typeface="Tahoma"/>
              </a:rPr>
              <a:t>eBooks,</a:t>
            </a:r>
            <a:r>
              <a:rPr sz="2000" spc="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journal</a:t>
            </a:r>
            <a:r>
              <a:rPr sz="20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64738B"/>
                </a:solidFill>
                <a:latin typeface="Tahoma"/>
                <a:cs typeface="Tahoma"/>
              </a:rPr>
              <a:t>PDFs, </a:t>
            </a: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lecture</a:t>
            </a:r>
            <a:r>
              <a:rPr sz="2000" spc="18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notes,</a:t>
            </a:r>
            <a:r>
              <a:rPr sz="2000" spc="18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sz="2000" spc="18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media</a:t>
            </a:r>
            <a:r>
              <a:rPr sz="2000" spc="18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files.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43900" y="2895600"/>
            <a:ext cx="2901315" cy="31329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0" dirty="0">
                <a:solidFill>
                  <a:srgbClr val="0E1729"/>
                </a:solidFill>
                <a:latin typeface="Arial Black"/>
                <a:cs typeface="Arial Black"/>
              </a:rPr>
              <a:t>Paperless</a:t>
            </a:r>
            <a:r>
              <a:rPr sz="2000" spc="-4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0E1729"/>
                </a:solidFill>
                <a:latin typeface="Arial Black"/>
                <a:cs typeface="Arial Black"/>
              </a:rPr>
              <a:t>Governance</a:t>
            </a:r>
            <a:endParaRPr sz="20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spc="50" dirty="0">
                <a:solidFill>
                  <a:srgbClr val="64738B"/>
                </a:solidFill>
                <a:latin typeface="Tahoma"/>
                <a:cs typeface="Tahoma"/>
              </a:rPr>
              <a:t>Enforce</a:t>
            </a:r>
            <a:r>
              <a:rPr lang="en-IN" sz="2000" spc="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64738B"/>
                </a:solidFill>
                <a:latin typeface="Tahoma"/>
                <a:cs typeface="Tahoma"/>
              </a:rPr>
              <a:t>file-</a:t>
            </a:r>
            <a:r>
              <a:rPr sz="2000" spc="60" dirty="0">
                <a:solidFill>
                  <a:srgbClr val="64738B"/>
                </a:solidFill>
                <a:latin typeface="Tahoma"/>
                <a:cs typeface="Tahoma"/>
              </a:rPr>
              <a:t>based</a:t>
            </a:r>
            <a:r>
              <a:rPr lang="en-IN" sz="2000" spc="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64738B"/>
                </a:solidFill>
                <a:latin typeface="Tahoma"/>
                <a:cs typeface="Tahoma"/>
              </a:rPr>
              <a:t>dynamic</a:t>
            </a:r>
            <a:r>
              <a:rPr sz="2000" spc="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storage,</a:t>
            </a:r>
            <a:endParaRPr sz="2000" dirty="0">
              <a:latin typeface="Tahoma"/>
              <a:cs typeface="Tahoma"/>
            </a:endParaRPr>
          </a:p>
          <a:p>
            <a:pPr marL="12700" marR="5080">
              <a:lnSpc>
                <a:spcPct val="147700"/>
              </a:lnSpc>
            </a:pP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rule-</a:t>
            </a:r>
            <a:r>
              <a:rPr sz="2000" spc="60" dirty="0">
                <a:solidFill>
                  <a:srgbClr val="64738B"/>
                </a:solidFill>
                <a:latin typeface="Tahoma"/>
                <a:cs typeface="Tahoma"/>
              </a:rPr>
              <a:t>based</a:t>
            </a:r>
            <a:r>
              <a:rPr sz="2000" spc="7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64738B"/>
                </a:solidFill>
                <a:latin typeface="Tahoma"/>
                <a:cs typeface="Tahoma"/>
              </a:rPr>
              <a:t>user</a:t>
            </a:r>
            <a:r>
              <a:rPr sz="2000" spc="7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64738B"/>
                </a:solidFill>
                <a:latin typeface="Tahoma"/>
                <a:cs typeface="Tahoma"/>
              </a:rPr>
              <a:t>access,</a:t>
            </a:r>
            <a:r>
              <a:rPr sz="2000" spc="7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sz="2000" spc="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operational </a:t>
            </a:r>
            <a:r>
              <a:rPr sz="2000" spc="30" dirty="0">
                <a:solidFill>
                  <a:srgbClr val="64738B"/>
                </a:solidFill>
                <a:latin typeface="Tahoma"/>
                <a:cs typeface="Tahoma"/>
              </a:rPr>
              <a:t>transparency</a:t>
            </a:r>
            <a:r>
              <a:rPr sz="2000" spc="2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64738B"/>
                </a:solidFill>
                <a:latin typeface="Tahoma"/>
                <a:cs typeface="Tahoma"/>
              </a:rPr>
              <a:t>across</a:t>
            </a:r>
            <a:r>
              <a:rPr sz="2000" spc="2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64738B"/>
                </a:solidFill>
                <a:latin typeface="Tahoma"/>
                <a:cs typeface="Tahoma"/>
              </a:rPr>
              <a:t>all</a:t>
            </a:r>
            <a:r>
              <a:rPr sz="2000" spc="2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64738B"/>
                </a:solidFill>
                <a:latin typeface="Tahoma"/>
                <a:cs typeface="Tahoma"/>
              </a:rPr>
              <a:t>administrative</a:t>
            </a:r>
            <a:r>
              <a:rPr sz="2000" spc="2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tiers</a:t>
            </a:r>
            <a:r>
              <a:rPr sz="1100" spc="-10" dirty="0">
                <a:solidFill>
                  <a:srgbClr val="64738B"/>
                </a:solidFill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495296" y="1563247"/>
            <a:ext cx="11201406" cy="616587"/>
          </a:xfrm>
          <a:prstGeom prst="rect">
            <a:avLst/>
          </a:prstGeom>
        </p:spPr>
        <p:txBody>
          <a:bodyPr vert="horz" wrap="square" lIns="0" tIns="122944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3200" spc="-185" dirty="0">
                <a:solidFill>
                  <a:srgbClr val="0E1729"/>
                </a:solidFill>
              </a:rPr>
              <a:t>System</a:t>
            </a:r>
            <a:r>
              <a:rPr sz="3200" spc="-130" dirty="0">
                <a:solidFill>
                  <a:srgbClr val="0E1729"/>
                </a:solidFill>
              </a:rPr>
              <a:t> </a:t>
            </a:r>
            <a:r>
              <a:rPr sz="3200" spc="-135" dirty="0">
                <a:solidFill>
                  <a:srgbClr val="0E1729"/>
                </a:solidFill>
              </a:rPr>
              <a:t>Objectives</a:t>
            </a:r>
            <a:endParaRPr sz="3200" dirty="0"/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657" cy="10589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372" y="2642474"/>
            <a:ext cx="5357240" cy="391072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2687" y="2608068"/>
            <a:ext cx="5357240" cy="39107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6775" y="2931918"/>
            <a:ext cx="180974" cy="2092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57962" y="2931918"/>
            <a:ext cx="266699" cy="2095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54075" y="2882537"/>
            <a:ext cx="4207510" cy="3424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00"/>
              </a:spcBef>
            </a:pPr>
            <a:r>
              <a:rPr sz="2000" spc="-150" dirty="0">
                <a:solidFill>
                  <a:srgbClr val="0183C7"/>
                </a:solidFill>
                <a:latin typeface="Arial Black"/>
                <a:cs typeface="Arial Black"/>
              </a:rPr>
              <a:t>Legacy</a:t>
            </a:r>
            <a:r>
              <a:rPr sz="2000" spc="-80" dirty="0">
                <a:solidFill>
                  <a:srgbClr val="0183C7"/>
                </a:solidFill>
                <a:latin typeface="Arial Black"/>
                <a:cs typeface="Arial Black"/>
              </a:rPr>
              <a:t> </a:t>
            </a:r>
            <a:r>
              <a:rPr sz="2000" spc="-50" dirty="0">
                <a:solidFill>
                  <a:srgbClr val="0183C7"/>
                </a:solidFill>
                <a:latin typeface="Arial Black"/>
                <a:cs typeface="Arial Black"/>
              </a:rPr>
              <a:t>Manual</a:t>
            </a:r>
            <a:r>
              <a:rPr sz="2000" spc="-80" dirty="0">
                <a:solidFill>
                  <a:srgbClr val="0183C7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0183C7"/>
                </a:solidFill>
                <a:latin typeface="Arial Black"/>
                <a:cs typeface="Arial Black"/>
              </a:rPr>
              <a:t>System</a:t>
            </a:r>
            <a:endParaRPr sz="2000" dirty="0">
              <a:latin typeface="Arial Black"/>
              <a:cs typeface="Arial Black"/>
            </a:endParaRPr>
          </a:p>
          <a:p>
            <a:pPr marL="137160" indent="-124460">
              <a:lnSpc>
                <a:spcPct val="100000"/>
              </a:lnSpc>
              <a:spcBef>
                <a:spcPts val="1085"/>
              </a:spcBef>
              <a:buChar char="•"/>
              <a:tabLst>
                <a:tab pos="137160" algn="l"/>
              </a:tabLst>
            </a:pP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Physical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465469"/>
                </a:solidFill>
                <a:latin typeface="Tahoma"/>
                <a:cs typeface="Tahoma"/>
              </a:rPr>
              <a:t>ledger</a:t>
            </a:r>
            <a:r>
              <a:rPr lang="en-IN" sz="2000" spc="3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465469"/>
                </a:solidFill>
                <a:latin typeface="Tahoma"/>
                <a:cs typeface="Tahoma"/>
              </a:rPr>
              <a:t>registers</a:t>
            </a:r>
            <a:r>
              <a:rPr lang="en-IN" sz="2000" spc="3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465469"/>
                </a:solidFill>
                <a:latin typeface="Tahoma"/>
                <a:cs typeface="Tahoma"/>
              </a:rPr>
              <a:t>for</a:t>
            </a:r>
            <a:r>
              <a:rPr lang="en-IN" sz="2000" spc="3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465469"/>
                </a:solidFill>
                <a:latin typeface="Tahoma"/>
                <a:cs typeface="Tahoma"/>
              </a:rPr>
              <a:t>book</a:t>
            </a:r>
            <a:r>
              <a:rPr lang="en-IN" sz="2000" spc="3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465469"/>
                </a:solidFill>
                <a:latin typeface="Tahoma"/>
                <a:cs typeface="Tahoma"/>
              </a:rPr>
              <a:t>borrowing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465469"/>
                </a:solidFill>
                <a:latin typeface="Tahoma"/>
                <a:cs typeface="Tahoma"/>
              </a:rPr>
              <a:t>and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65469"/>
                </a:solidFill>
                <a:latin typeface="Tahoma"/>
                <a:cs typeface="Tahoma"/>
              </a:rPr>
              <a:t>returns.</a:t>
            </a:r>
            <a:endParaRPr sz="2000" dirty="0">
              <a:latin typeface="Tahoma"/>
              <a:cs typeface="Tahoma"/>
            </a:endParaRPr>
          </a:p>
          <a:p>
            <a:pPr marL="137160" indent="-124460">
              <a:lnSpc>
                <a:spcPct val="100000"/>
              </a:lnSpc>
              <a:spcBef>
                <a:spcPts val="1335"/>
              </a:spcBef>
              <a:buChar char="•"/>
              <a:tabLst>
                <a:tab pos="137160" algn="l"/>
              </a:tabLst>
            </a:pP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Manual</a:t>
            </a:r>
            <a:r>
              <a:rPr sz="2000" spc="7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card</a:t>
            </a:r>
            <a:r>
              <a:rPr sz="2000" spc="8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catalog</a:t>
            </a:r>
            <a:r>
              <a:rPr sz="2000" spc="8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searching</a:t>
            </a:r>
            <a:r>
              <a:rPr sz="2000" spc="8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leading</a:t>
            </a:r>
            <a:r>
              <a:rPr sz="2000" spc="7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to</a:t>
            </a:r>
            <a:r>
              <a:rPr sz="2000" spc="8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slow</a:t>
            </a:r>
            <a:r>
              <a:rPr sz="2000" spc="8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65469"/>
                </a:solidFill>
                <a:latin typeface="Tahoma"/>
                <a:cs typeface="Tahoma"/>
              </a:rPr>
              <a:t>discovery.</a:t>
            </a:r>
            <a:endParaRPr sz="2000" dirty="0">
              <a:latin typeface="Tahoma"/>
              <a:cs typeface="Tahoma"/>
            </a:endParaRPr>
          </a:p>
          <a:p>
            <a:pPr marL="137160" indent="-124460">
              <a:lnSpc>
                <a:spcPct val="100000"/>
              </a:lnSpc>
              <a:spcBef>
                <a:spcPts val="1335"/>
              </a:spcBef>
              <a:buChar char="•"/>
              <a:tabLst>
                <a:tab pos="137160" algn="l"/>
              </a:tabLst>
            </a:pP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High</a:t>
            </a:r>
            <a:r>
              <a:rPr sz="2000" spc="4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risk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of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physical</a:t>
            </a:r>
            <a:r>
              <a:rPr sz="2000" spc="4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book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damage,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theft,</a:t>
            </a:r>
            <a:r>
              <a:rPr sz="2000" spc="4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and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65469"/>
                </a:solidFill>
                <a:latin typeface="Tahoma"/>
                <a:cs typeface="Tahoma"/>
              </a:rPr>
              <a:t>loss.</a:t>
            </a:r>
            <a:endParaRPr sz="2000" dirty="0">
              <a:latin typeface="Tahoma"/>
              <a:cs typeface="Tahoma"/>
            </a:endParaRPr>
          </a:p>
          <a:p>
            <a:pPr marL="137160" indent="-124460">
              <a:lnSpc>
                <a:spcPct val="100000"/>
              </a:lnSpc>
              <a:spcBef>
                <a:spcPts val="1335"/>
              </a:spcBef>
              <a:buChar char="•"/>
              <a:tabLst>
                <a:tab pos="137160" algn="l"/>
              </a:tabLst>
            </a:pP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Zero</a:t>
            </a:r>
            <a:r>
              <a:rPr sz="2000" spc="13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real-time</a:t>
            </a:r>
            <a:r>
              <a:rPr sz="2000" spc="13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metric</a:t>
            </a:r>
            <a:r>
              <a:rPr sz="2000" spc="13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updates</a:t>
            </a:r>
            <a:r>
              <a:rPr sz="2000" spc="14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for</a:t>
            </a:r>
            <a:r>
              <a:rPr sz="2000" spc="13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library</a:t>
            </a:r>
            <a:r>
              <a:rPr sz="2000" spc="13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65469"/>
                </a:solidFill>
                <a:latin typeface="Tahoma"/>
                <a:cs typeface="Tahoma"/>
              </a:rPr>
              <a:t>managers.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5262" y="2882537"/>
            <a:ext cx="4311015" cy="3424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015">
              <a:lnSpc>
                <a:spcPct val="100000"/>
              </a:lnSpc>
              <a:spcBef>
                <a:spcPts val="100"/>
              </a:spcBef>
            </a:pPr>
            <a:r>
              <a:rPr sz="2000" spc="-90" dirty="0">
                <a:solidFill>
                  <a:srgbClr val="0183C7"/>
                </a:solidFill>
                <a:latin typeface="Arial Black"/>
                <a:cs typeface="Arial Black"/>
              </a:rPr>
              <a:t>Proposed </a:t>
            </a:r>
            <a:r>
              <a:rPr sz="2000" spc="-70" dirty="0">
                <a:solidFill>
                  <a:srgbClr val="0183C7"/>
                </a:solidFill>
                <a:latin typeface="Arial Black"/>
                <a:cs typeface="Arial Black"/>
              </a:rPr>
              <a:t>Digital</a:t>
            </a:r>
            <a:r>
              <a:rPr sz="2000" spc="-85" dirty="0">
                <a:solidFill>
                  <a:srgbClr val="0183C7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0183C7"/>
                </a:solidFill>
                <a:latin typeface="Arial Black"/>
                <a:cs typeface="Arial Black"/>
              </a:rPr>
              <a:t>System</a:t>
            </a:r>
            <a:endParaRPr sz="2000" dirty="0">
              <a:latin typeface="Arial Black"/>
              <a:cs typeface="Arial Black"/>
            </a:endParaRPr>
          </a:p>
          <a:p>
            <a:pPr marL="137160" indent="-124460">
              <a:lnSpc>
                <a:spcPct val="100000"/>
              </a:lnSpc>
              <a:spcBef>
                <a:spcPts val="1130"/>
              </a:spcBef>
              <a:buChar char="•"/>
              <a:tabLst>
                <a:tab pos="137160" algn="l"/>
              </a:tabLst>
            </a:pP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Instant</a:t>
            </a:r>
            <a:r>
              <a:rPr lang="en-IN" sz="20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console-based</a:t>
            </a:r>
            <a:r>
              <a:rPr lang="en-IN" sz="20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OPAC</a:t>
            </a:r>
            <a:r>
              <a:rPr lang="en-IN" sz="20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search</a:t>
            </a:r>
            <a:r>
              <a:rPr lang="en-IN" sz="20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by</a:t>
            </a:r>
            <a:r>
              <a:rPr lang="en-IN" sz="20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title,</a:t>
            </a:r>
            <a:r>
              <a:rPr sz="2000" spc="49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author,</a:t>
            </a:r>
            <a:r>
              <a:rPr sz="2000" spc="49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or</a:t>
            </a:r>
            <a:r>
              <a:rPr sz="2000" spc="49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465469"/>
                </a:solidFill>
                <a:latin typeface="Tahoma"/>
                <a:cs typeface="Tahoma"/>
              </a:rPr>
              <a:t>tag.</a:t>
            </a:r>
            <a:endParaRPr sz="2000" dirty="0">
              <a:latin typeface="Tahoma"/>
              <a:cs typeface="Tahoma"/>
            </a:endParaRPr>
          </a:p>
          <a:p>
            <a:pPr marL="137160" indent="-124460">
              <a:lnSpc>
                <a:spcPct val="100000"/>
              </a:lnSpc>
              <a:spcBef>
                <a:spcPts val="1335"/>
              </a:spcBef>
              <a:buChar char="•"/>
              <a:tabLst>
                <a:tab pos="137160" algn="l"/>
              </a:tabLst>
            </a:pP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Automated</a:t>
            </a:r>
            <a:r>
              <a:rPr sz="2000" spc="13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license</a:t>
            </a:r>
            <a:r>
              <a:rPr sz="2000" spc="13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management</a:t>
            </a:r>
            <a:r>
              <a:rPr sz="2000" spc="13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rgbClr val="465469"/>
                </a:solidFill>
                <a:latin typeface="Tahoma"/>
                <a:cs typeface="Tahoma"/>
              </a:rPr>
              <a:t>&amp;</a:t>
            </a:r>
            <a:r>
              <a:rPr sz="2000" spc="13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concurrency</a:t>
            </a:r>
            <a:r>
              <a:rPr sz="2000" spc="13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65469"/>
                </a:solidFill>
                <a:latin typeface="Tahoma"/>
                <a:cs typeface="Tahoma"/>
              </a:rPr>
              <a:t>tracking.</a:t>
            </a:r>
            <a:endParaRPr sz="2000" dirty="0">
              <a:latin typeface="Tahoma"/>
              <a:cs typeface="Tahoma"/>
            </a:endParaRPr>
          </a:p>
          <a:p>
            <a:pPr marL="137160" indent="-124460">
              <a:lnSpc>
                <a:spcPct val="100000"/>
              </a:lnSpc>
              <a:spcBef>
                <a:spcPts val="1335"/>
              </a:spcBef>
              <a:buChar char="•"/>
              <a:tabLst>
                <a:tab pos="137160" algn="l"/>
              </a:tabLst>
            </a:pP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Persistent</a:t>
            </a:r>
            <a:r>
              <a:rPr sz="2000" spc="4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binary/text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file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data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logging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for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 zero </a:t>
            </a:r>
            <a:r>
              <a:rPr sz="2000" spc="10" dirty="0">
                <a:solidFill>
                  <a:srgbClr val="465469"/>
                </a:solidFill>
                <a:latin typeface="Tahoma"/>
                <a:cs typeface="Tahoma"/>
              </a:rPr>
              <a:t>data</a:t>
            </a:r>
            <a:r>
              <a:rPr sz="2000" spc="5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465469"/>
                </a:solidFill>
                <a:latin typeface="Tahoma"/>
                <a:cs typeface="Tahoma"/>
              </a:rPr>
              <a:t>loss.</a:t>
            </a:r>
            <a:endParaRPr sz="2000" dirty="0">
              <a:latin typeface="Tahoma"/>
              <a:cs typeface="Tahoma"/>
            </a:endParaRPr>
          </a:p>
          <a:p>
            <a:pPr marL="137160" indent="-124460">
              <a:lnSpc>
                <a:spcPct val="100000"/>
              </a:lnSpc>
              <a:spcBef>
                <a:spcPts val="1335"/>
              </a:spcBef>
              <a:buChar char="•"/>
              <a:tabLst>
                <a:tab pos="137160" algn="l"/>
              </a:tabLst>
            </a:pP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Automated</a:t>
            </a:r>
            <a:r>
              <a:rPr sz="2000" spc="15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analytics</a:t>
            </a:r>
            <a:r>
              <a:rPr sz="2000" spc="15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on</a:t>
            </a:r>
            <a:r>
              <a:rPr sz="2000" spc="16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borrowing</a:t>
            </a:r>
            <a:r>
              <a:rPr sz="2000" spc="15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trends</a:t>
            </a:r>
            <a:r>
              <a:rPr sz="2000" spc="16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and</a:t>
            </a:r>
            <a:r>
              <a:rPr sz="2000" spc="15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65469"/>
                </a:solidFill>
                <a:latin typeface="Tahoma"/>
                <a:cs typeface="Tahoma"/>
              </a:rPr>
              <a:t>user</a:t>
            </a:r>
            <a:r>
              <a:rPr sz="2000" spc="16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465469"/>
                </a:solidFill>
                <a:latin typeface="Tahoma"/>
                <a:cs typeface="Tahoma"/>
              </a:rPr>
              <a:t>access.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73099" y="1909354"/>
            <a:ext cx="5043805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170" dirty="0">
                <a:solidFill>
                  <a:srgbClr val="0E1729"/>
                </a:solidFill>
              </a:rPr>
              <a:t>Existing</a:t>
            </a:r>
            <a:r>
              <a:rPr sz="2550" spc="-140" dirty="0">
                <a:solidFill>
                  <a:srgbClr val="0E1729"/>
                </a:solidFill>
              </a:rPr>
              <a:t> </a:t>
            </a:r>
            <a:r>
              <a:rPr sz="2550" spc="-180" dirty="0">
                <a:solidFill>
                  <a:srgbClr val="0E1729"/>
                </a:solidFill>
              </a:rPr>
              <a:t>vs.</a:t>
            </a:r>
            <a:r>
              <a:rPr sz="2550" spc="-140" dirty="0">
                <a:solidFill>
                  <a:srgbClr val="0E1729"/>
                </a:solidFill>
              </a:rPr>
              <a:t> </a:t>
            </a:r>
            <a:r>
              <a:rPr sz="2550" spc="-100" dirty="0">
                <a:solidFill>
                  <a:srgbClr val="0E1729"/>
                </a:solidFill>
              </a:rPr>
              <a:t>Automated</a:t>
            </a:r>
            <a:r>
              <a:rPr sz="2550" spc="-135" dirty="0">
                <a:solidFill>
                  <a:srgbClr val="0E1729"/>
                </a:solidFill>
              </a:rPr>
              <a:t> </a:t>
            </a:r>
            <a:r>
              <a:rPr sz="2550" spc="-130" dirty="0">
                <a:solidFill>
                  <a:srgbClr val="0E1729"/>
                </a:solidFill>
              </a:rPr>
              <a:t>System</a:t>
            </a:r>
            <a:endParaRPr sz="2550" dirty="0"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0657" cy="10589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327948"/>
            <a:ext cx="104774" cy="140955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58800" y="1399992"/>
            <a:ext cx="51562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40" dirty="0">
                <a:solidFill>
                  <a:srgbClr val="0E1729"/>
                </a:solidFill>
              </a:rPr>
              <a:t>Proposed</a:t>
            </a:r>
            <a:r>
              <a:rPr sz="2800" spc="-145" dirty="0">
                <a:solidFill>
                  <a:srgbClr val="0E1729"/>
                </a:solidFill>
              </a:rPr>
              <a:t> </a:t>
            </a:r>
            <a:r>
              <a:rPr sz="2800" spc="-275" dirty="0">
                <a:solidFill>
                  <a:srgbClr val="0E1729"/>
                </a:solidFill>
              </a:rPr>
              <a:t>C++</a:t>
            </a:r>
            <a:r>
              <a:rPr sz="2800" spc="-140" dirty="0">
                <a:solidFill>
                  <a:srgbClr val="0E1729"/>
                </a:solidFill>
              </a:rPr>
              <a:t> </a:t>
            </a:r>
            <a:r>
              <a:rPr sz="2800" spc="-105" dirty="0">
                <a:solidFill>
                  <a:srgbClr val="0E1729"/>
                </a:solidFill>
              </a:rPr>
              <a:t>Architecture</a:t>
            </a:r>
            <a:endParaRPr sz="2800" dirty="0"/>
          </a:p>
        </p:txBody>
      </p:sp>
      <p:sp>
        <p:nvSpPr>
          <p:cNvPr id="5" name="object 5"/>
          <p:cNvSpPr txBox="1"/>
          <p:nvPr/>
        </p:nvSpPr>
        <p:spPr>
          <a:xfrm>
            <a:off x="558800" y="2318657"/>
            <a:ext cx="4795520" cy="4174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465">
              <a:lnSpc>
                <a:spcPct val="156300"/>
              </a:lnSpc>
              <a:spcBef>
                <a:spcPts val="100"/>
              </a:spcBef>
            </a:pPr>
            <a:r>
              <a:rPr sz="1600" dirty="0">
                <a:solidFill>
                  <a:srgbClr val="465469"/>
                </a:solidFill>
                <a:latin typeface="Tahoma"/>
                <a:cs typeface="Tahoma"/>
              </a:rPr>
              <a:t>The</a:t>
            </a:r>
            <a:r>
              <a:rPr sz="1600" spc="7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65469"/>
                </a:solidFill>
                <a:latin typeface="Tahoma"/>
                <a:cs typeface="Tahoma"/>
              </a:rPr>
              <a:t>proposed</a:t>
            </a:r>
            <a:r>
              <a:rPr sz="1600" spc="7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65469"/>
                </a:solidFill>
                <a:latin typeface="Tahoma"/>
                <a:cs typeface="Tahoma"/>
              </a:rPr>
              <a:t>Digital</a:t>
            </a:r>
            <a:r>
              <a:rPr sz="1600" spc="8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65469"/>
                </a:solidFill>
                <a:latin typeface="Tahoma"/>
                <a:cs typeface="Tahoma"/>
              </a:rPr>
              <a:t>Library</a:t>
            </a:r>
            <a:r>
              <a:rPr sz="1600" spc="7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spc="-60" dirty="0">
                <a:solidFill>
                  <a:srgbClr val="465469"/>
                </a:solidFill>
                <a:latin typeface="Tahoma"/>
                <a:cs typeface="Tahoma"/>
              </a:rPr>
              <a:t>&amp;</a:t>
            </a:r>
            <a:r>
              <a:rPr sz="1600" spc="7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465469"/>
                </a:solidFill>
                <a:latin typeface="Tahoma"/>
                <a:cs typeface="Tahoma"/>
              </a:rPr>
              <a:t>Paperless</a:t>
            </a:r>
            <a:r>
              <a:rPr sz="1600" spc="7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465469"/>
                </a:solidFill>
                <a:latin typeface="Tahoma"/>
                <a:cs typeface="Tahoma"/>
              </a:rPr>
              <a:t>System</a:t>
            </a:r>
            <a:r>
              <a:rPr sz="1600" spc="8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65469"/>
                </a:solidFill>
                <a:latin typeface="Tahoma"/>
                <a:cs typeface="Tahoma"/>
              </a:rPr>
              <a:t>offers</a:t>
            </a:r>
            <a:r>
              <a:rPr sz="1600" spc="7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spc="-50" dirty="0">
                <a:solidFill>
                  <a:srgbClr val="465469"/>
                </a:solidFill>
                <a:latin typeface="Tahoma"/>
                <a:cs typeface="Tahoma"/>
              </a:rPr>
              <a:t>a </a:t>
            </a:r>
            <a:r>
              <a:rPr sz="1600" spc="20" dirty="0">
                <a:solidFill>
                  <a:srgbClr val="465469"/>
                </a:solidFill>
                <a:latin typeface="Tahoma"/>
                <a:cs typeface="Tahoma"/>
              </a:rPr>
              <a:t>lightweight,</a:t>
            </a:r>
            <a:r>
              <a:rPr sz="1600"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465469"/>
                </a:solidFill>
                <a:latin typeface="Tahoma"/>
                <a:cs typeface="Tahoma"/>
              </a:rPr>
              <a:t>high-performance</a:t>
            </a:r>
            <a:r>
              <a:rPr sz="1600" spc="9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465469"/>
                </a:solidFill>
                <a:latin typeface="Tahoma"/>
                <a:cs typeface="Tahoma"/>
              </a:rPr>
              <a:t>console</a:t>
            </a:r>
            <a:r>
              <a:rPr sz="1600"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465469"/>
                </a:solidFill>
                <a:latin typeface="Tahoma"/>
                <a:cs typeface="Tahoma"/>
              </a:rPr>
              <a:t>application</a:t>
            </a:r>
            <a:r>
              <a:rPr sz="1600" spc="9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465469"/>
                </a:solidFill>
                <a:latin typeface="Tahoma"/>
                <a:cs typeface="Tahoma"/>
              </a:rPr>
              <a:t>engineered</a:t>
            </a:r>
            <a:r>
              <a:rPr sz="1600"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465469"/>
                </a:solidFill>
                <a:latin typeface="Tahoma"/>
                <a:cs typeface="Tahoma"/>
              </a:rPr>
              <a:t>with </a:t>
            </a:r>
            <a:r>
              <a:rPr sz="1600" dirty="0">
                <a:solidFill>
                  <a:srgbClr val="465469"/>
                </a:solidFill>
                <a:latin typeface="Tahoma"/>
                <a:cs typeface="Tahoma"/>
              </a:rPr>
              <a:t>clean</a:t>
            </a:r>
            <a:r>
              <a:rPr sz="1600" spc="31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65469"/>
                </a:solidFill>
                <a:latin typeface="Tahoma"/>
                <a:cs typeface="Tahoma"/>
              </a:rPr>
              <a:t>Object-Oriented</a:t>
            </a:r>
            <a:r>
              <a:rPr sz="1600" spc="31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65469"/>
                </a:solidFill>
                <a:latin typeface="Tahoma"/>
                <a:cs typeface="Tahoma"/>
              </a:rPr>
              <a:t>Principles.</a:t>
            </a:r>
            <a:endParaRPr sz="1600" dirty="0">
              <a:latin typeface="Tahoma"/>
              <a:cs typeface="Tahoma"/>
            </a:endParaRPr>
          </a:p>
          <a:p>
            <a:pPr marL="374015" marR="100965">
              <a:lnSpc>
                <a:spcPct val="150000"/>
              </a:lnSpc>
              <a:spcBef>
                <a:spcPts val="195"/>
              </a:spcBef>
            </a:pPr>
            <a:r>
              <a:rPr sz="1600" b="1" spc="-10" dirty="0">
                <a:solidFill>
                  <a:srgbClr val="334054"/>
                </a:solidFill>
                <a:latin typeface="Tahoma"/>
                <a:cs typeface="Tahoma"/>
              </a:rPr>
              <a:t>Role-Based</a:t>
            </a:r>
            <a:r>
              <a:rPr sz="1600" b="1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334054"/>
                </a:solidFill>
                <a:latin typeface="Tahoma"/>
                <a:cs typeface="Tahoma"/>
              </a:rPr>
              <a:t>Access:</a:t>
            </a:r>
            <a:r>
              <a:rPr sz="1600" b="1" spc="18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Distinct</a:t>
            </a:r>
            <a:r>
              <a:rPr sz="1600" spc="16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65" dirty="0">
                <a:solidFill>
                  <a:srgbClr val="334054"/>
                </a:solidFill>
                <a:latin typeface="Tahoma"/>
                <a:cs typeface="Tahoma"/>
              </a:rPr>
              <a:t>views</a:t>
            </a:r>
            <a:r>
              <a:rPr sz="1600" spc="16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for</a:t>
            </a:r>
            <a:r>
              <a:rPr sz="1600" spc="1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Students,</a:t>
            </a:r>
            <a:r>
              <a:rPr sz="1600" spc="16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334054"/>
                </a:solidFill>
                <a:latin typeface="Tahoma"/>
                <a:cs typeface="Tahoma"/>
              </a:rPr>
              <a:t>Faculty, </a:t>
            </a:r>
            <a:r>
              <a:rPr sz="1600" spc="50" dirty="0">
                <a:solidFill>
                  <a:srgbClr val="334054"/>
                </a:solidFill>
                <a:latin typeface="Tahoma"/>
                <a:cs typeface="Tahoma"/>
              </a:rPr>
              <a:t>and</a:t>
            </a:r>
            <a:r>
              <a:rPr sz="1600" spc="-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65" dirty="0">
                <a:solidFill>
                  <a:srgbClr val="334054"/>
                </a:solidFill>
                <a:latin typeface="Tahoma"/>
                <a:cs typeface="Tahoma"/>
              </a:rPr>
              <a:t>System</a:t>
            </a:r>
            <a:r>
              <a:rPr sz="1600" spc="-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334054"/>
                </a:solidFill>
                <a:latin typeface="Tahoma"/>
                <a:cs typeface="Tahoma"/>
              </a:rPr>
              <a:t>Administrators.</a:t>
            </a:r>
            <a:endParaRPr sz="1600" dirty="0">
              <a:latin typeface="Tahoma"/>
              <a:cs typeface="Tahoma"/>
            </a:endParaRPr>
          </a:p>
          <a:p>
            <a:pPr marL="374015" marR="755650">
              <a:lnSpc>
                <a:spcPct val="150000"/>
              </a:lnSpc>
              <a:spcBef>
                <a:spcPts val="450"/>
              </a:spcBef>
            </a:pPr>
            <a:r>
              <a:rPr sz="1600" b="1" spc="-10" dirty="0">
                <a:solidFill>
                  <a:srgbClr val="334054"/>
                </a:solidFill>
                <a:latin typeface="Tahoma"/>
                <a:cs typeface="Tahoma"/>
              </a:rPr>
              <a:t>File</a:t>
            </a:r>
            <a:r>
              <a:rPr sz="1600" b="1" spc="-2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334054"/>
                </a:solidFill>
                <a:latin typeface="Tahoma"/>
                <a:cs typeface="Tahoma"/>
              </a:rPr>
              <a:t>Processing</a:t>
            </a:r>
            <a:r>
              <a:rPr sz="1600" b="1" spc="-20" dirty="0">
                <a:solidFill>
                  <a:srgbClr val="334054"/>
                </a:solidFill>
                <a:latin typeface="Tahoma"/>
                <a:cs typeface="Tahoma"/>
              </a:rPr>
              <a:t> Engine:</a:t>
            </a:r>
            <a:r>
              <a:rPr sz="1600" b="1"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75" dirty="0">
                <a:solidFill>
                  <a:srgbClr val="334054"/>
                </a:solidFill>
                <a:latin typeface="Tahoma"/>
                <a:cs typeface="Tahoma"/>
              </a:rPr>
              <a:t>Saves</a:t>
            </a:r>
            <a:r>
              <a:rPr sz="1600"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334054"/>
                </a:solidFill>
                <a:latin typeface="Tahoma"/>
                <a:cs typeface="Tahoma"/>
              </a:rPr>
              <a:t>catalog</a:t>
            </a:r>
            <a:r>
              <a:rPr sz="1600" spc="1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state</a:t>
            </a:r>
            <a:r>
              <a:rPr sz="1600"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334054"/>
                </a:solidFill>
                <a:latin typeface="Tahoma"/>
                <a:cs typeface="Tahoma"/>
              </a:rPr>
              <a:t>and </a:t>
            </a:r>
            <a:r>
              <a:rPr sz="1600" spc="20" dirty="0">
                <a:solidFill>
                  <a:srgbClr val="334054"/>
                </a:solidFill>
                <a:latin typeface="Tahoma"/>
                <a:cs typeface="Tahoma"/>
              </a:rPr>
              <a:t>transactional</a:t>
            </a:r>
            <a:r>
              <a:rPr sz="1600"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334054"/>
                </a:solidFill>
                <a:latin typeface="Tahoma"/>
                <a:cs typeface="Tahoma"/>
              </a:rPr>
              <a:t>logs</a:t>
            </a:r>
            <a:r>
              <a:rPr sz="1600"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334054"/>
                </a:solidFill>
                <a:latin typeface="Tahoma"/>
                <a:cs typeface="Tahoma"/>
              </a:rPr>
              <a:t>continuously</a:t>
            </a:r>
            <a:r>
              <a:rPr sz="1600"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20" dirty="0">
                <a:solidFill>
                  <a:srgbClr val="334054"/>
                </a:solidFill>
                <a:latin typeface="Tahoma"/>
                <a:cs typeface="Tahoma"/>
              </a:rPr>
              <a:t>to</a:t>
            </a:r>
            <a:r>
              <a:rPr sz="1600"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334054"/>
                </a:solidFill>
                <a:latin typeface="Tahoma"/>
                <a:cs typeface="Tahoma"/>
              </a:rPr>
              <a:t>disk.</a:t>
            </a:r>
            <a:endParaRPr sz="1600" dirty="0">
              <a:latin typeface="Tahoma"/>
              <a:cs typeface="Tahoma"/>
            </a:endParaRPr>
          </a:p>
          <a:p>
            <a:pPr marL="374015" marR="5080">
              <a:lnSpc>
                <a:spcPct val="150000"/>
              </a:lnSpc>
            </a:pPr>
            <a:r>
              <a:rPr sz="1600" b="1" dirty="0">
                <a:solidFill>
                  <a:srgbClr val="334054"/>
                </a:solidFill>
                <a:latin typeface="Tahoma"/>
                <a:cs typeface="Tahoma"/>
              </a:rPr>
              <a:t>Resource</a:t>
            </a:r>
            <a:r>
              <a:rPr sz="1600" b="1" spc="-7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b="1" spc="-45" dirty="0">
                <a:solidFill>
                  <a:srgbClr val="334054"/>
                </a:solidFill>
                <a:latin typeface="Tahoma"/>
                <a:cs typeface="Tahoma"/>
              </a:rPr>
              <a:t>Indexer:</a:t>
            </a:r>
            <a:r>
              <a:rPr sz="1600" b="1" spc="-1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334054"/>
                </a:solidFill>
                <a:latin typeface="Tahoma"/>
                <a:cs typeface="Tahoma"/>
              </a:rPr>
              <a:t>Fast</a:t>
            </a:r>
            <a:r>
              <a:rPr sz="1600" spc="-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334054"/>
                </a:solidFill>
                <a:latin typeface="Tahoma"/>
                <a:cs typeface="Tahoma"/>
              </a:rPr>
              <a:t>lookup</a:t>
            </a:r>
            <a:r>
              <a:rPr sz="1600" spc="-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334054"/>
                </a:solidFill>
                <a:latin typeface="Tahoma"/>
                <a:cs typeface="Tahoma"/>
              </a:rPr>
              <a:t>using</a:t>
            </a:r>
            <a:r>
              <a:rPr sz="1600" spc="-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65" dirty="0">
                <a:solidFill>
                  <a:srgbClr val="334054"/>
                </a:solidFill>
                <a:latin typeface="Tahoma"/>
                <a:cs typeface="Tahoma"/>
              </a:rPr>
              <a:t>dynamic</a:t>
            </a:r>
            <a:r>
              <a:rPr sz="1600" spc="-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334054"/>
                </a:solidFill>
                <a:latin typeface="Tahoma"/>
                <a:cs typeface="Tahoma"/>
              </a:rPr>
              <a:t>vectors</a:t>
            </a:r>
            <a:r>
              <a:rPr sz="1600" spc="-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25" dirty="0">
                <a:solidFill>
                  <a:srgbClr val="334054"/>
                </a:solidFill>
                <a:latin typeface="Tahoma"/>
                <a:cs typeface="Tahoma"/>
              </a:rPr>
              <a:t>and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array</a:t>
            </a:r>
            <a:r>
              <a:rPr sz="1600" spc="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65" dirty="0">
                <a:solidFill>
                  <a:srgbClr val="334054"/>
                </a:solidFill>
                <a:latin typeface="Tahoma"/>
                <a:cs typeface="Tahoma"/>
              </a:rPr>
              <a:t>search</a:t>
            </a:r>
            <a:r>
              <a:rPr sz="1600" spc="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334054"/>
                </a:solidFill>
                <a:latin typeface="Tahoma"/>
                <a:cs typeface="Tahoma"/>
              </a:rPr>
              <a:t>algorithms.</a:t>
            </a:r>
            <a:endParaRPr sz="1600" dirty="0">
              <a:latin typeface="Tahoma"/>
              <a:cs typeface="Tahom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CC3F6F-C1CF-5823-FF64-88F15B321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143000"/>
            <a:ext cx="6321006" cy="5714999"/>
          </a:xfrm>
          <a:prstGeom prst="rect">
            <a:avLst/>
          </a:prstGeom>
        </p:spPr>
      </p:pic>
      <p:pic>
        <p:nvPicPr>
          <p:cNvPr id="10" name="object 9">
            <a:extLst>
              <a:ext uri="{FF2B5EF4-FFF2-40B4-BE49-F238E27FC236}">
                <a16:creationId xmlns:a16="http://schemas.microsoft.com/office/drawing/2014/main" id="{88710C68-5DEF-A641-0E84-BA94AF72881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569" y="33982"/>
            <a:ext cx="12190657" cy="8910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296" y="2574774"/>
            <a:ext cx="3555968" cy="17049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8775" y="2604640"/>
            <a:ext cx="7301929" cy="16487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976" y="4495800"/>
            <a:ext cx="3555968" cy="17049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71700" y="4495800"/>
            <a:ext cx="7301929" cy="17586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0099" y="2808979"/>
            <a:ext cx="199876" cy="1619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46549" y="2809876"/>
            <a:ext cx="161924" cy="1619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92998" y="2808979"/>
            <a:ext cx="142874" cy="1618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0100" y="4800600"/>
            <a:ext cx="161924" cy="1619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46549" y="4791076"/>
            <a:ext cx="161924" cy="1619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92998" y="4791076"/>
            <a:ext cx="161924" cy="1619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87399" y="2664436"/>
            <a:ext cx="2379345" cy="123739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276225">
              <a:lnSpc>
                <a:spcPct val="144400"/>
              </a:lnSpc>
              <a:spcBef>
                <a:spcPts val="290"/>
              </a:spcBef>
            </a:pPr>
            <a:r>
              <a:rPr sz="1400" spc="-25" dirty="0">
                <a:solidFill>
                  <a:srgbClr val="0E1729"/>
                </a:solidFill>
                <a:latin typeface="Arial Black"/>
                <a:cs typeface="Arial Black"/>
              </a:rPr>
              <a:t>Module</a:t>
            </a:r>
            <a:r>
              <a:rPr sz="1400" spc="-5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90" dirty="0">
                <a:solidFill>
                  <a:srgbClr val="0E1729"/>
                </a:solidFill>
                <a:latin typeface="Arial Black"/>
                <a:cs typeface="Arial Black"/>
              </a:rPr>
              <a:t>1:</a:t>
            </a:r>
            <a:r>
              <a:rPr sz="1400" spc="-5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75" dirty="0">
                <a:solidFill>
                  <a:srgbClr val="0E1729"/>
                </a:solidFill>
                <a:latin typeface="Arial Black"/>
                <a:cs typeface="Arial Black"/>
              </a:rPr>
              <a:t>User</a:t>
            </a:r>
            <a:r>
              <a:rPr sz="1400" spc="-5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20" dirty="0">
                <a:solidFill>
                  <a:srgbClr val="0E1729"/>
                </a:solidFill>
                <a:latin typeface="Arial Black"/>
                <a:cs typeface="Arial Black"/>
              </a:rPr>
              <a:t>Mgmt </a:t>
            </a:r>
            <a:r>
              <a:rPr sz="1400" spc="30" dirty="0">
                <a:solidFill>
                  <a:srgbClr val="64738B"/>
                </a:solidFill>
                <a:latin typeface="Tahoma"/>
                <a:cs typeface="Tahoma"/>
              </a:rPr>
              <a:t>Handlesstudent/facultyaccounts,</a:t>
            </a:r>
            <a:r>
              <a:rPr sz="1400" spc="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64738B"/>
                </a:solidFill>
                <a:latin typeface="Tahoma"/>
                <a:cs typeface="Tahoma"/>
              </a:rPr>
              <a:t>user </a:t>
            </a:r>
            <a:r>
              <a:rPr sz="1400" spc="10" dirty="0">
                <a:solidFill>
                  <a:srgbClr val="64738B"/>
                </a:solidFill>
                <a:latin typeface="Tahoma"/>
                <a:cs typeface="Tahoma"/>
              </a:rPr>
              <a:t>privileges,</a:t>
            </a:r>
            <a:r>
              <a:rPr sz="1400" spc="1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sz="1400" spc="10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64738B"/>
                </a:solidFill>
                <a:latin typeface="Tahoma"/>
                <a:cs typeface="Tahoma"/>
              </a:rPr>
              <a:t>active</a:t>
            </a:r>
            <a:r>
              <a:rPr sz="1400" spc="10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64738B"/>
                </a:solidFill>
                <a:latin typeface="Tahoma"/>
                <a:cs typeface="Tahoma"/>
              </a:rPr>
              <a:t>profile</a:t>
            </a:r>
            <a:r>
              <a:rPr sz="1400" spc="10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Tahoma"/>
                <a:cs typeface="Tahoma"/>
              </a:rPr>
              <a:t>records.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7412" y="4649848"/>
            <a:ext cx="2813050" cy="123739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238125">
              <a:lnSpc>
                <a:spcPct val="144400"/>
              </a:lnSpc>
              <a:spcBef>
                <a:spcPts val="290"/>
              </a:spcBef>
            </a:pPr>
            <a:r>
              <a:rPr sz="1400" spc="-25" dirty="0">
                <a:solidFill>
                  <a:srgbClr val="0E1729"/>
                </a:solidFill>
                <a:latin typeface="Arial Black"/>
                <a:cs typeface="Arial Black"/>
              </a:rPr>
              <a:t>Module</a:t>
            </a:r>
            <a:r>
              <a:rPr sz="1400" spc="-6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90" dirty="0">
                <a:solidFill>
                  <a:srgbClr val="0E1729"/>
                </a:solidFill>
                <a:latin typeface="Arial Black"/>
                <a:cs typeface="Arial Black"/>
              </a:rPr>
              <a:t>4:</a:t>
            </a:r>
            <a:r>
              <a:rPr sz="1400" spc="-6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135" dirty="0">
                <a:solidFill>
                  <a:srgbClr val="0E1729"/>
                </a:solidFill>
                <a:latin typeface="Arial Black"/>
                <a:cs typeface="Arial Black"/>
              </a:rPr>
              <a:t>Access</a:t>
            </a:r>
            <a:r>
              <a:rPr sz="1400" spc="-6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E1729"/>
                </a:solidFill>
                <a:latin typeface="Arial Black"/>
                <a:cs typeface="Arial Black"/>
              </a:rPr>
              <a:t>Control </a:t>
            </a:r>
            <a:r>
              <a:rPr sz="1400" spc="60" dirty="0">
                <a:solidFill>
                  <a:srgbClr val="64738B"/>
                </a:solidFill>
                <a:latin typeface="Tahoma"/>
                <a:cs typeface="Tahoma"/>
              </a:rPr>
              <a:t>Processes</a:t>
            </a:r>
            <a:r>
              <a:rPr sz="1400" spc="9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20" dirty="0">
                <a:solidFill>
                  <a:srgbClr val="64738B"/>
                </a:solidFill>
                <a:latin typeface="Tahoma"/>
                <a:cs typeface="Tahoma"/>
              </a:rPr>
              <a:t>checkouts,</a:t>
            </a:r>
            <a:r>
              <a:rPr sz="1400" spc="1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20" dirty="0">
                <a:solidFill>
                  <a:srgbClr val="64738B"/>
                </a:solidFill>
                <a:latin typeface="Tahoma"/>
                <a:cs typeface="Tahoma"/>
              </a:rPr>
              <a:t>activedownload</a:t>
            </a:r>
            <a:r>
              <a:rPr sz="1400" spc="9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Tahoma"/>
                <a:cs typeface="Tahoma"/>
              </a:rPr>
              <a:t>holds, </a:t>
            </a:r>
            <a:r>
              <a:rPr sz="1400" dirty="0">
                <a:solidFill>
                  <a:srgbClr val="64738B"/>
                </a:solidFill>
                <a:latin typeface="Tahoma"/>
                <a:cs typeface="Tahoma"/>
              </a:rPr>
              <a:t>issue</a:t>
            </a:r>
            <a:r>
              <a:rPr sz="1400" spc="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4738B"/>
                </a:solidFill>
                <a:latin typeface="Tahoma"/>
                <a:cs typeface="Tahoma"/>
              </a:rPr>
              <a:t>limits,</a:t>
            </a:r>
            <a:r>
              <a:rPr sz="1400" spc="8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sz="1400" spc="8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4738B"/>
                </a:solidFill>
                <a:latin typeface="Tahoma"/>
                <a:cs typeface="Tahoma"/>
              </a:rPr>
              <a:t>return</a:t>
            </a:r>
            <a:r>
              <a:rPr sz="1400" spc="8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Tahoma"/>
                <a:cs typeface="Tahoma"/>
              </a:rPr>
              <a:t>schedules.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1799" y="2629389"/>
            <a:ext cx="3314751" cy="939616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955"/>
              </a:spcBef>
            </a:pPr>
            <a:r>
              <a:rPr sz="1400" spc="-25" dirty="0">
                <a:solidFill>
                  <a:srgbClr val="0E1729"/>
                </a:solidFill>
                <a:latin typeface="Arial Black"/>
                <a:cs typeface="Arial Black"/>
              </a:rPr>
              <a:t>Module</a:t>
            </a:r>
            <a:r>
              <a:rPr sz="1400" spc="-6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90" dirty="0">
                <a:solidFill>
                  <a:srgbClr val="0E1729"/>
                </a:solidFill>
                <a:latin typeface="Arial Black"/>
                <a:cs typeface="Arial Black"/>
              </a:rPr>
              <a:t>2:</a:t>
            </a:r>
            <a:r>
              <a:rPr sz="1400" spc="-6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E1729"/>
                </a:solidFill>
                <a:latin typeface="Arial Black"/>
                <a:cs typeface="Arial Black"/>
              </a:rPr>
              <a:t>Classiﬁcation</a:t>
            </a:r>
            <a:endParaRPr sz="1400" dirty="0">
              <a:latin typeface="Arial Black"/>
              <a:cs typeface="Arial Black"/>
            </a:endParaRPr>
          </a:p>
          <a:p>
            <a:pPr marL="12700" marR="5080">
              <a:lnSpc>
                <a:spcPct val="142900"/>
              </a:lnSpc>
              <a:spcBef>
                <a:spcPts val="150"/>
              </a:spcBef>
            </a:pPr>
            <a:r>
              <a:rPr sz="1400" spc="30" dirty="0">
                <a:solidFill>
                  <a:srgbClr val="64738B"/>
                </a:solidFill>
                <a:latin typeface="Tahoma"/>
                <a:cs typeface="Tahoma"/>
              </a:rPr>
              <a:t>Auto-categorizesresourcesbydomain,</a:t>
            </a:r>
            <a:r>
              <a:rPr sz="1400" spc="29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Tahoma"/>
                <a:cs typeface="Tahoma"/>
              </a:rPr>
              <a:t>media </a:t>
            </a:r>
            <a:r>
              <a:rPr sz="1400" spc="10" dirty="0">
                <a:solidFill>
                  <a:srgbClr val="64738B"/>
                </a:solidFill>
                <a:latin typeface="Tahoma"/>
                <a:cs typeface="Tahoma"/>
              </a:rPr>
              <a:t>type,</a:t>
            </a:r>
            <a:r>
              <a:rPr sz="14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64738B"/>
                </a:solidFill>
                <a:latin typeface="Tahoma"/>
                <a:cs typeface="Tahoma"/>
              </a:rPr>
              <a:t>tags,</a:t>
            </a:r>
            <a:r>
              <a:rPr sz="14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sz="14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64738B"/>
                </a:solidFill>
                <a:latin typeface="Tahoma"/>
                <a:cs typeface="Tahoma"/>
              </a:rPr>
              <a:t>license</a:t>
            </a:r>
            <a:r>
              <a:rPr sz="14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Tahoma"/>
                <a:cs typeface="Tahoma"/>
              </a:rPr>
              <a:t>type.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65345" y="4649848"/>
            <a:ext cx="2861310" cy="1247714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955"/>
              </a:spcBef>
            </a:pPr>
            <a:r>
              <a:rPr sz="1400" spc="-25" dirty="0">
                <a:solidFill>
                  <a:srgbClr val="0E1729"/>
                </a:solidFill>
                <a:latin typeface="Arial Black"/>
                <a:cs typeface="Arial Black"/>
              </a:rPr>
              <a:t>Module</a:t>
            </a:r>
            <a:r>
              <a:rPr sz="1400" spc="-6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90" dirty="0">
                <a:solidFill>
                  <a:srgbClr val="0E1729"/>
                </a:solidFill>
                <a:latin typeface="Arial Black"/>
                <a:cs typeface="Arial Black"/>
              </a:rPr>
              <a:t>5:</a:t>
            </a:r>
            <a:r>
              <a:rPr sz="1400" spc="-6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E1729"/>
                </a:solidFill>
                <a:latin typeface="Arial Black"/>
                <a:cs typeface="Arial Black"/>
              </a:rPr>
              <a:t>Archiving</a:t>
            </a:r>
            <a:endParaRPr sz="1400" dirty="0">
              <a:latin typeface="Arial Black"/>
              <a:cs typeface="Arial Black"/>
            </a:endParaRPr>
          </a:p>
          <a:p>
            <a:pPr marL="12700" marR="5080">
              <a:lnSpc>
                <a:spcPct val="142900"/>
              </a:lnSpc>
              <a:spcBef>
                <a:spcPts val="150"/>
              </a:spcBef>
            </a:pPr>
            <a:r>
              <a:rPr sz="1400" spc="20" dirty="0">
                <a:solidFill>
                  <a:srgbClr val="64738B"/>
                </a:solidFill>
                <a:latin typeface="Tahoma"/>
                <a:cs typeface="Tahoma"/>
              </a:rPr>
              <a:t>Organizes</a:t>
            </a:r>
            <a:r>
              <a:rPr sz="1400" spc="1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20" dirty="0">
                <a:solidFill>
                  <a:srgbClr val="64738B"/>
                </a:solidFill>
                <a:latin typeface="Tahoma"/>
                <a:cs typeface="Tahoma"/>
              </a:rPr>
              <a:t>coursereaders,digital</a:t>
            </a:r>
            <a:r>
              <a:rPr sz="1400" spc="1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20" dirty="0">
                <a:solidFill>
                  <a:srgbClr val="64738B"/>
                </a:solidFill>
                <a:latin typeface="Tahoma"/>
                <a:cs typeface="Tahoma"/>
              </a:rPr>
              <a:t>archives,</a:t>
            </a:r>
            <a:r>
              <a:rPr sz="1400" spc="1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64738B"/>
                </a:solidFill>
                <a:latin typeface="Tahoma"/>
                <a:cs typeface="Tahoma"/>
              </a:rPr>
              <a:t>and </a:t>
            </a:r>
            <a:r>
              <a:rPr sz="1400" spc="20" dirty="0">
                <a:solidFill>
                  <a:srgbClr val="64738B"/>
                </a:solidFill>
                <a:latin typeface="Tahoma"/>
                <a:cs typeface="Tahoma"/>
              </a:rPr>
              <a:t>paperless</a:t>
            </a:r>
            <a:r>
              <a:rPr sz="1400" spc="12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20" dirty="0">
                <a:solidFill>
                  <a:srgbClr val="64738B"/>
                </a:solidFill>
                <a:latin typeface="Tahoma"/>
                <a:cs typeface="Tahoma"/>
              </a:rPr>
              <a:t>document</a:t>
            </a:r>
            <a:r>
              <a:rPr sz="1400" spc="12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Tahoma"/>
                <a:cs typeface="Tahoma"/>
              </a:rPr>
              <a:t>repositories.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82704" y="4643180"/>
            <a:ext cx="3144291" cy="1254382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238125">
              <a:lnSpc>
                <a:spcPct val="146400"/>
              </a:lnSpc>
              <a:spcBef>
                <a:spcPts val="295"/>
              </a:spcBef>
            </a:pPr>
            <a:r>
              <a:rPr sz="1400" spc="-25" dirty="0">
                <a:solidFill>
                  <a:srgbClr val="0E1729"/>
                </a:solidFill>
                <a:latin typeface="Arial Black"/>
                <a:cs typeface="Arial Black"/>
              </a:rPr>
              <a:t>Module</a:t>
            </a:r>
            <a:r>
              <a:rPr sz="1400" spc="-6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90" dirty="0">
                <a:solidFill>
                  <a:srgbClr val="0E1729"/>
                </a:solidFill>
                <a:latin typeface="Arial Black"/>
                <a:cs typeface="Arial Black"/>
              </a:rPr>
              <a:t>6:</a:t>
            </a:r>
            <a:r>
              <a:rPr sz="1400" spc="-6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30" dirty="0">
                <a:solidFill>
                  <a:srgbClr val="0E1729"/>
                </a:solidFill>
                <a:latin typeface="Arial Black"/>
                <a:cs typeface="Arial Black"/>
              </a:rPr>
              <a:t>Admin</a:t>
            </a:r>
            <a:r>
              <a:rPr sz="1400" spc="-6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E1729"/>
                </a:solidFill>
                <a:latin typeface="Arial Black"/>
                <a:cs typeface="Arial Black"/>
              </a:rPr>
              <a:t>Reports </a:t>
            </a:r>
            <a:r>
              <a:rPr sz="1400" spc="30" dirty="0">
                <a:solidFill>
                  <a:srgbClr val="64738B"/>
                </a:solidFill>
                <a:latin typeface="Tahoma"/>
                <a:cs typeface="Tahoma"/>
              </a:rPr>
              <a:t>Generatesusage</a:t>
            </a:r>
            <a:r>
              <a:rPr sz="1400" spc="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30" dirty="0">
                <a:solidFill>
                  <a:srgbClr val="64738B"/>
                </a:solidFill>
                <a:latin typeface="Tahoma"/>
                <a:cs typeface="Tahoma"/>
              </a:rPr>
              <a:t>stats,system</a:t>
            </a:r>
            <a:r>
              <a:rPr sz="1400" spc="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Tahoma"/>
                <a:cs typeface="Tahoma"/>
              </a:rPr>
              <a:t>errorlogs, </a:t>
            </a:r>
            <a:r>
              <a:rPr sz="1400" dirty="0">
                <a:solidFill>
                  <a:srgbClr val="64738B"/>
                </a:solidFill>
                <a:latin typeface="Tahoma"/>
                <a:cs typeface="Tahoma"/>
              </a:rPr>
              <a:t>overdue</a:t>
            </a:r>
            <a:r>
              <a:rPr sz="1400" spc="14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4738B"/>
                </a:solidFill>
                <a:latin typeface="Tahoma"/>
                <a:cs typeface="Tahoma"/>
              </a:rPr>
              <a:t>reports,</a:t>
            </a:r>
            <a:r>
              <a:rPr sz="1400" spc="1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sz="1400" spc="1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4738B"/>
                </a:solidFill>
                <a:latin typeface="Tahoma"/>
                <a:cs typeface="Tahoma"/>
              </a:rPr>
              <a:t>summary</a:t>
            </a:r>
            <a:r>
              <a:rPr sz="1400" spc="1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Tahoma"/>
                <a:cs typeface="Tahoma"/>
              </a:rPr>
              <a:t>metrics.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80297" y="2660122"/>
            <a:ext cx="2728595" cy="1125757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990"/>
              </a:spcBef>
            </a:pPr>
            <a:r>
              <a:rPr sz="1400" spc="-25" dirty="0">
                <a:solidFill>
                  <a:srgbClr val="0E1729"/>
                </a:solidFill>
                <a:latin typeface="Arial Black"/>
                <a:cs typeface="Arial Black"/>
              </a:rPr>
              <a:t>Module</a:t>
            </a:r>
            <a:r>
              <a:rPr sz="1400" spc="-6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90" dirty="0">
                <a:solidFill>
                  <a:srgbClr val="0E1729"/>
                </a:solidFill>
                <a:latin typeface="Arial Black"/>
                <a:cs typeface="Arial Black"/>
              </a:rPr>
              <a:t>3:</a:t>
            </a:r>
            <a:r>
              <a:rPr sz="1400" spc="-6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80" dirty="0">
                <a:solidFill>
                  <a:srgbClr val="0E1729"/>
                </a:solidFill>
                <a:latin typeface="Arial Black"/>
                <a:cs typeface="Arial Black"/>
              </a:rPr>
              <a:t>Resource</a:t>
            </a:r>
            <a:r>
              <a:rPr sz="1400" spc="-6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0E1729"/>
                </a:solidFill>
                <a:latin typeface="Arial Black"/>
                <a:cs typeface="Arial Black"/>
              </a:rPr>
              <a:t>Engine</a:t>
            </a:r>
            <a:endParaRPr sz="1400" dirty="0">
              <a:latin typeface="Arial Black"/>
              <a:cs typeface="Arial Black"/>
            </a:endParaRPr>
          </a:p>
          <a:p>
            <a:pPr marL="53340" marR="5080" indent="-41275">
              <a:lnSpc>
                <a:spcPct val="113100"/>
              </a:lnSpc>
              <a:spcBef>
                <a:spcPts val="555"/>
              </a:spcBef>
            </a:pPr>
            <a:r>
              <a:rPr lang="en-IN" sz="1400" spc="1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10" dirty="0">
                <a:solidFill>
                  <a:srgbClr val="64738B"/>
                </a:solidFill>
                <a:latin typeface="Tahoma"/>
                <a:cs typeface="Tahoma"/>
              </a:rPr>
              <a:t>Maintains</a:t>
            </a:r>
            <a:r>
              <a:rPr sz="1400" spc="17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Tahoma"/>
                <a:cs typeface="Tahoma"/>
              </a:rPr>
              <a:t>eBook</a:t>
            </a:r>
            <a:r>
              <a:rPr lang="en-IN" sz="1400" spc="-1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10" dirty="0" err="1">
                <a:solidFill>
                  <a:srgbClr val="64738B"/>
                </a:solidFill>
                <a:latin typeface="Tahoma"/>
                <a:cs typeface="Tahoma"/>
              </a:rPr>
              <a:t>inventories,file</a:t>
            </a:r>
            <a:r>
              <a:rPr lang="en-IN" sz="1400" spc="-1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Tahoma"/>
                <a:cs typeface="Tahoma"/>
              </a:rPr>
              <a:t>URLs,</a:t>
            </a:r>
            <a:r>
              <a:rPr lang="en-IN" sz="1400" spc="-1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Tahoma"/>
                <a:cs typeface="Tahoma"/>
              </a:rPr>
              <a:t>copies</a:t>
            </a:r>
            <a:r>
              <a:rPr lang="en-IN" sz="1400" spc="5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4738B"/>
                </a:solidFill>
                <a:latin typeface="Tahoma"/>
                <a:cs typeface="Tahoma"/>
              </a:rPr>
              <a:t>available,</a:t>
            </a:r>
            <a:r>
              <a:rPr sz="1400" spc="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sz="1400" spc="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64738B"/>
                </a:solidFill>
                <a:latin typeface="Tahoma"/>
                <a:cs typeface="Tahoma"/>
              </a:rPr>
              <a:t>access</a:t>
            </a:r>
            <a:r>
              <a:rPr sz="1400" spc="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64738B"/>
                </a:solidFill>
                <a:latin typeface="Tahoma"/>
                <a:cs typeface="Tahoma"/>
              </a:rPr>
              <a:t>parameters.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603538" y="1698904"/>
            <a:ext cx="5171440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185" dirty="0">
                <a:solidFill>
                  <a:srgbClr val="0E1729"/>
                </a:solidFill>
              </a:rPr>
              <a:t>System</a:t>
            </a:r>
            <a:r>
              <a:rPr sz="2550" spc="-130" dirty="0">
                <a:solidFill>
                  <a:srgbClr val="0E1729"/>
                </a:solidFill>
              </a:rPr>
              <a:t> </a:t>
            </a:r>
            <a:r>
              <a:rPr sz="2550" spc="-125" dirty="0">
                <a:solidFill>
                  <a:srgbClr val="0E1729"/>
                </a:solidFill>
              </a:rPr>
              <a:t>Architecture </a:t>
            </a:r>
            <a:r>
              <a:rPr sz="2550" spc="-365" dirty="0">
                <a:solidFill>
                  <a:srgbClr val="0E1729"/>
                </a:solidFill>
              </a:rPr>
              <a:t>&amp;</a:t>
            </a:r>
            <a:r>
              <a:rPr sz="2550" spc="-130" dirty="0">
                <a:solidFill>
                  <a:srgbClr val="0E1729"/>
                </a:solidFill>
              </a:rPr>
              <a:t> </a:t>
            </a:r>
            <a:r>
              <a:rPr sz="2550" spc="-70" dirty="0">
                <a:solidFill>
                  <a:srgbClr val="0E1729"/>
                </a:solidFill>
              </a:rPr>
              <a:t>Modules</a:t>
            </a:r>
            <a:endParaRPr sz="2550"/>
          </a:p>
        </p:txBody>
      </p:sp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12077434" cy="10491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396" y="2899553"/>
            <a:ext cx="228603" cy="1484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296" y="4210051"/>
            <a:ext cx="228603" cy="1333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296" y="5486400"/>
            <a:ext cx="200028" cy="1333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14400" y="2759074"/>
            <a:ext cx="4892040" cy="37593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b="1" dirty="0">
                <a:solidFill>
                  <a:srgbClr val="334054"/>
                </a:solidFill>
                <a:latin typeface="Tahoma"/>
                <a:cs typeface="Tahoma"/>
              </a:rPr>
              <a:t>Account</a:t>
            </a:r>
            <a:r>
              <a:rPr b="1" spc="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b="1" spc="-10" dirty="0">
                <a:solidFill>
                  <a:srgbClr val="334054"/>
                </a:solidFill>
                <a:latin typeface="Tahoma"/>
                <a:cs typeface="Tahoma"/>
              </a:rPr>
              <a:t>Creation:</a:t>
            </a:r>
            <a:r>
              <a:rPr b="1" spc="16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Register</a:t>
            </a:r>
            <a:r>
              <a:rPr spc="1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334054"/>
                </a:solidFill>
                <a:latin typeface="Tahoma"/>
                <a:cs typeface="Tahoma"/>
              </a:rPr>
              <a:t>new</a:t>
            </a:r>
            <a:r>
              <a:rPr spc="1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students,</a:t>
            </a:r>
            <a:r>
              <a:rPr spc="1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334054"/>
                </a:solidFill>
                <a:latin typeface="Tahoma"/>
                <a:cs typeface="Tahoma"/>
              </a:rPr>
              <a:t>faculty</a:t>
            </a:r>
            <a:r>
              <a:rPr spc="1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members,</a:t>
            </a:r>
            <a:r>
              <a:rPr spc="1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25" dirty="0">
                <a:solidFill>
                  <a:srgbClr val="334054"/>
                </a:solidFill>
                <a:latin typeface="Tahoma"/>
                <a:cs typeface="Tahoma"/>
              </a:rPr>
              <a:t>and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library</a:t>
            </a:r>
            <a:r>
              <a:rPr spc="1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staff</a:t>
            </a:r>
            <a:r>
              <a:rPr spc="1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with</a:t>
            </a:r>
            <a:r>
              <a:rPr spc="1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unique</a:t>
            </a:r>
            <a:r>
              <a:rPr spc="1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334054"/>
                </a:solidFill>
                <a:latin typeface="Tahoma"/>
                <a:cs typeface="Tahoma"/>
              </a:rPr>
              <a:t>credentials.</a:t>
            </a:r>
            <a:endParaRPr dirty="0">
              <a:latin typeface="Tahoma"/>
              <a:cs typeface="Tahoma"/>
            </a:endParaRPr>
          </a:p>
          <a:p>
            <a:pPr marL="12700" marR="610235">
              <a:lnSpc>
                <a:spcPct val="150000"/>
              </a:lnSpc>
              <a:spcBef>
                <a:spcPts val="450"/>
              </a:spcBef>
            </a:pPr>
            <a:r>
              <a:rPr b="1" spc="-30" dirty="0">
                <a:solidFill>
                  <a:srgbClr val="334054"/>
                </a:solidFill>
                <a:latin typeface="Tahoma"/>
                <a:cs typeface="Tahoma"/>
              </a:rPr>
              <a:t>Role</a:t>
            </a:r>
            <a:r>
              <a:rPr b="1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b="1" spc="-20" dirty="0">
                <a:solidFill>
                  <a:srgbClr val="334054"/>
                </a:solidFill>
                <a:latin typeface="Tahoma"/>
                <a:cs typeface="Tahoma"/>
              </a:rPr>
              <a:t>Authentication:</a:t>
            </a:r>
            <a:r>
              <a:rPr b="1" spc="10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334054"/>
                </a:solidFill>
                <a:latin typeface="Tahoma"/>
                <a:cs typeface="Tahoma"/>
              </a:rPr>
              <a:t>Enforces</a:t>
            </a:r>
            <a:r>
              <a:rPr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login</a:t>
            </a:r>
            <a:r>
              <a:rPr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validation</a:t>
            </a:r>
            <a:r>
              <a:rPr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for</a:t>
            </a:r>
            <a:r>
              <a:rPr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334054"/>
                </a:solidFill>
                <a:latin typeface="Tahoma"/>
                <a:cs typeface="Tahoma"/>
              </a:rPr>
              <a:t>Admin </a:t>
            </a:r>
            <a:r>
              <a:rPr spc="20" dirty="0">
                <a:solidFill>
                  <a:srgbClr val="334054"/>
                </a:solidFill>
                <a:latin typeface="Tahoma"/>
                <a:cs typeface="Tahoma"/>
              </a:rPr>
              <a:t>privileges</a:t>
            </a:r>
            <a:r>
              <a:rPr spc="11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80" dirty="0">
                <a:solidFill>
                  <a:srgbClr val="334054"/>
                </a:solidFill>
                <a:latin typeface="Tahoma"/>
                <a:cs typeface="Tahoma"/>
              </a:rPr>
              <a:t>vs</a:t>
            </a:r>
            <a:r>
              <a:rPr spc="11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334054"/>
                </a:solidFill>
                <a:latin typeface="Tahoma"/>
                <a:cs typeface="Tahoma"/>
              </a:rPr>
              <a:t>standard</a:t>
            </a:r>
            <a:r>
              <a:rPr spc="114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334054"/>
                </a:solidFill>
                <a:latin typeface="Tahoma"/>
                <a:cs typeface="Tahoma"/>
              </a:rPr>
              <a:t>patron</a:t>
            </a:r>
            <a:r>
              <a:rPr spc="11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334054"/>
                </a:solidFill>
                <a:latin typeface="Tahoma"/>
                <a:cs typeface="Tahoma"/>
              </a:rPr>
              <a:t>rights.</a:t>
            </a:r>
            <a:endParaRPr dirty="0">
              <a:latin typeface="Tahoma"/>
              <a:cs typeface="Tahoma"/>
            </a:endParaRPr>
          </a:p>
          <a:p>
            <a:pPr marL="12700" marR="6985">
              <a:lnSpc>
                <a:spcPct val="150000"/>
              </a:lnSpc>
            </a:pPr>
            <a:r>
              <a:rPr b="1" dirty="0">
                <a:solidFill>
                  <a:srgbClr val="334054"/>
                </a:solidFill>
                <a:latin typeface="Tahoma"/>
                <a:cs typeface="Tahoma"/>
              </a:rPr>
              <a:t>Member</a:t>
            </a:r>
            <a:r>
              <a:rPr b="1" spc="-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b="1" spc="-20" dirty="0">
                <a:solidFill>
                  <a:srgbClr val="334054"/>
                </a:solidFill>
                <a:latin typeface="Tahoma"/>
                <a:cs typeface="Tahoma"/>
              </a:rPr>
              <a:t>Profile</a:t>
            </a:r>
            <a:r>
              <a:rPr b="1" dirty="0">
                <a:solidFill>
                  <a:srgbClr val="334054"/>
                </a:solidFill>
                <a:latin typeface="Tahoma"/>
                <a:cs typeface="Tahoma"/>
              </a:rPr>
              <a:t> Tracking:</a:t>
            </a:r>
            <a:r>
              <a:rPr b="1" spc="7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334054"/>
                </a:solidFill>
                <a:latin typeface="Tahoma"/>
                <a:cs typeface="Tahoma"/>
              </a:rPr>
              <a:t>Stores</a:t>
            </a:r>
            <a:r>
              <a:rPr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current</a:t>
            </a:r>
            <a:r>
              <a:rPr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334054"/>
                </a:solidFill>
                <a:latin typeface="Tahoma"/>
                <a:cs typeface="Tahoma"/>
              </a:rPr>
              <a:t>borrowed</a:t>
            </a:r>
            <a:r>
              <a:rPr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digital</a:t>
            </a:r>
            <a:r>
              <a:rPr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334054"/>
                </a:solidFill>
                <a:latin typeface="Tahoma"/>
                <a:cs typeface="Tahoma"/>
              </a:rPr>
              <a:t>items, </a:t>
            </a:r>
            <a:r>
              <a:rPr spc="55" dirty="0">
                <a:solidFill>
                  <a:srgbClr val="334054"/>
                </a:solidFill>
                <a:latin typeface="Tahoma"/>
                <a:cs typeface="Tahoma"/>
              </a:rPr>
              <a:t>download</a:t>
            </a:r>
            <a:r>
              <a:rPr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limits,</a:t>
            </a:r>
            <a:r>
              <a:rPr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334054"/>
                </a:solidFill>
                <a:latin typeface="Tahoma"/>
                <a:cs typeface="Tahoma"/>
              </a:rPr>
              <a:t>and</a:t>
            </a:r>
            <a:r>
              <a:rPr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fine</a:t>
            </a:r>
            <a:r>
              <a:rPr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334054"/>
                </a:solidFill>
                <a:latin typeface="Tahoma"/>
                <a:cs typeface="Tahoma"/>
              </a:rPr>
              <a:t>history.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5844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2550" spc="-90" dirty="0">
                <a:solidFill>
                  <a:srgbClr val="0E1729"/>
                </a:solidFill>
              </a:rPr>
              <a:t>Module</a:t>
            </a:r>
            <a:r>
              <a:rPr sz="2550" spc="-150" dirty="0">
                <a:solidFill>
                  <a:srgbClr val="0E1729"/>
                </a:solidFill>
              </a:rPr>
              <a:t> </a:t>
            </a:r>
            <a:r>
              <a:rPr sz="2550" spc="-254" dirty="0">
                <a:solidFill>
                  <a:srgbClr val="0E1729"/>
                </a:solidFill>
              </a:rPr>
              <a:t>1</a:t>
            </a:r>
            <a:r>
              <a:rPr sz="2550" spc="-150" dirty="0">
                <a:solidFill>
                  <a:srgbClr val="0E1729"/>
                </a:solidFill>
              </a:rPr>
              <a:t> </a:t>
            </a:r>
            <a:r>
              <a:rPr sz="2550" dirty="0">
                <a:solidFill>
                  <a:srgbClr val="0E1729"/>
                </a:solidFill>
              </a:rPr>
              <a:t>-</a:t>
            </a:r>
            <a:r>
              <a:rPr sz="2550" spc="-145" dirty="0">
                <a:solidFill>
                  <a:srgbClr val="0E1729"/>
                </a:solidFill>
              </a:rPr>
              <a:t> </a:t>
            </a:r>
            <a:r>
              <a:rPr sz="2550" spc="-170" dirty="0">
                <a:solidFill>
                  <a:srgbClr val="0E1729"/>
                </a:solidFill>
              </a:rPr>
              <a:t>User</a:t>
            </a:r>
            <a:r>
              <a:rPr sz="2550" spc="-150" dirty="0">
                <a:solidFill>
                  <a:srgbClr val="0E1729"/>
                </a:solidFill>
              </a:rPr>
              <a:t> </a:t>
            </a:r>
            <a:r>
              <a:rPr sz="2550" spc="-80" dirty="0">
                <a:solidFill>
                  <a:srgbClr val="0E1729"/>
                </a:solidFill>
              </a:rPr>
              <a:t>Management</a:t>
            </a:r>
            <a:endParaRPr sz="2550" dirty="0"/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2190657" cy="10589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97195D5-A584-F392-8269-65E7A3EB6D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629348"/>
            <a:ext cx="5104057" cy="52947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438401"/>
            <a:ext cx="3524249" cy="3962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3386" y="2438401"/>
            <a:ext cx="7285415" cy="39624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9150" y="2514600"/>
            <a:ext cx="495299" cy="495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81525" y="2514600"/>
            <a:ext cx="495299" cy="495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43900" y="2514600"/>
            <a:ext cx="495299" cy="495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2025" y="2667000"/>
            <a:ext cx="209549" cy="2095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24400" y="2667000"/>
            <a:ext cx="209549" cy="2095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86775" y="2667000"/>
            <a:ext cx="209549" cy="2095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565286" y="2998725"/>
            <a:ext cx="2855595" cy="2665153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spc="-60" dirty="0">
                <a:solidFill>
                  <a:srgbClr val="0E1729"/>
                </a:solidFill>
                <a:latin typeface="Arial Black"/>
                <a:cs typeface="Arial Black"/>
              </a:rPr>
              <a:t>Format</a:t>
            </a:r>
            <a:r>
              <a:rPr sz="2000" spc="-7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0E1729"/>
                </a:solidFill>
                <a:latin typeface="Arial Black"/>
                <a:cs typeface="Arial Black"/>
              </a:rPr>
              <a:t>Indexing</a:t>
            </a:r>
            <a:endParaRPr sz="2000" dirty="0">
              <a:latin typeface="Arial Black"/>
              <a:cs typeface="Arial Black"/>
            </a:endParaRPr>
          </a:p>
          <a:p>
            <a:pPr marL="12700" marR="5080">
              <a:lnSpc>
                <a:spcPct val="147700"/>
              </a:lnSpc>
              <a:spcBef>
                <a:spcPts val="70"/>
              </a:spcBef>
            </a:pPr>
            <a:r>
              <a:rPr sz="2000" spc="60" dirty="0">
                <a:solidFill>
                  <a:srgbClr val="64738B"/>
                </a:solidFill>
                <a:latin typeface="Tahoma"/>
                <a:cs typeface="Tahoma"/>
              </a:rPr>
              <a:t>Tracks</a:t>
            </a:r>
            <a:r>
              <a:rPr sz="2000" spc="6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media</a:t>
            </a:r>
            <a:r>
              <a:rPr sz="20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64738B"/>
                </a:solidFill>
                <a:latin typeface="Tahoma"/>
                <a:cs typeface="Tahoma"/>
              </a:rPr>
              <a:t>types</a:t>
            </a:r>
            <a:r>
              <a:rPr sz="20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including</a:t>
            </a:r>
            <a:r>
              <a:rPr sz="20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64738B"/>
                </a:solidFill>
                <a:latin typeface="Tahoma"/>
                <a:cs typeface="Tahoma"/>
              </a:rPr>
              <a:t>PDF</a:t>
            </a:r>
            <a:r>
              <a:rPr sz="20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eBooks, </a:t>
            </a:r>
            <a:r>
              <a:rPr sz="2000" spc="80" dirty="0">
                <a:solidFill>
                  <a:srgbClr val="64738B"/>
                </a:solidFill>
                <a:latin typeface="Tahoma"/>
                <a:cs typeface="Tahoma"/>
              </a:rPr>
              <a:t>EPUB</a:t>
            </a:r>
            <a:r>
              <a:rPr sz="2000" spc="1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readers,</a:t>
            </a:r>
            <a:r>
              <a:rPr sz="2000" spc="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audio</a:t>
            </a:r>
            <a:r>
              <a:rPr sz="2000" spc="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lectures,</a:t>
            </a:r>
            <a:r>
              <a:rPr sz="2000" spc="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64738B"/>
                </a:solidFill>
                <a:latin typeface="Tahoma"/>
                <a:cs typeface="Tahoma"/>
              </a:rPr>
              <a:t>and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interactive</a:t>
            </a:r>
            <a:r>
              <a:rPr sz="2000" spc="9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64738B"/>
                </a:solidFill>
                <a:latin typeface="Tahoma"/>
                <a:cs typeface="Tahoma"/>
              </a:rPr>
              <a:t>code</a:t>
            </a:r>
            <a:r>
              <a:rPr sz="2000" spc="9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notebooks.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33907" y="2979987"/>
            <a:ext cx="2936240" cy="2665153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000" spc="-114" dirty="0">
                <a:solidFill>
                  <a:srgbClr val="0E1729"/>
                </a:solidFill>
                <a:latin typeface="Arial Black"/>
                <a:cs typeface="Arial Black"/>
              </a:rPr>
              <a:t>Search</a:t>
            </a:r>
            <a:r>
              <a:rPr sz="2000" spc="-8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0E1729"/>
                </a:solidFill>
                <a:latin typeface="Arial Black"/>
                <a:cs typeface="Arial Black"/>
              </a:rPr>
              <a:t>Filtering</a:t>
            </a:r>
            <a:endParaRPr sz="2000" dirty="0">
              <a:latin typeface="Arial Black"/>
              <a:cs typeface="Arial Black"/>
            </a:endParaRPr>
          </a:p>
          <a:p>
            <a:pPr marL="12700" marR="5080">
              <a:lnSpc>
                <a:spcPct val="147700"/>
              </a:lnSpc>
              <a:spcBef>
                <a:spcPts val="70"/>
              </a:spcBef>
            </a:pP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Implements</a:t>
            </a:r>
            <a:r>
              <a:rPr sz="2000" spc="1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fast</a:t>
            </a:r>
            <a:r>
              <a:rPr sz="2000" spc="1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string</a:t>
            </a:r>
            <a:r>
              <a:rPr sz="2000" spc="14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64738B"/>
                </a:solidFill>
                <a:latin typeface="Tahoma"/>
                <a:cs typeface="Tahoma"/>
              </a:rPr>
              <a:t>comparison</a:t>
            </a:r>
            <a:r>
              <a:rPr sz="2000" spc="13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methods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to</a:t>
            </a:r>
            <a:r>
              <a:rPr sz="2000" spc="1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filter</a:t>
            </a:r>
            <a:r>
              <a:rPr sz="2000" spc="1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64738B"/>
                </a:solidFill>
                <a:latin typeface="Tahoma"/>
                <a:cs typeface="Tahoma"/>
              </a:rPr>
              <a:t>by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 ISBN,</a:t>
            </a:r>
            <a:r>
              <a:rPr sz="2000" spc="1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author,</a:t>
            </a:r>
            <a:r>
              <a:rPr sz="2000" spc="1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keywords, or</a:t>
            </a:r>
            <a:r>
              <a:rPr sz="2000" spc="1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title substrings.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6767" y="3086099"/>
            <a:ext cx="2894330" cy="30308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5" dirty="0">
                <a:solidFill>
                  <a:srgbClr val="0E1729"/>
                </a:solidFill>
                <a:latin typeface="Arial Black"/>
                <a:cs typeface="Arial Black"/>
              </a:rPr>
              <a:t>Category</a:t>
            </a:r>
            <a:r>
              <a:rPr sz="2000" spc="-7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0E1729"/>
                </a:solidFill>
                <a:latin typeface="Arial Black"/>
                <a:cs typeface="Arial Black"/>
              </a:rPr>
              <a:t>Tagging</a:t>
            </a:r>
            <a:endParaRPr sz="2000" dirty="0">
              <a:latin typeface="Arial Black"/>
              <a:cs typeface="Arial Black"/>
            </a:endParaRPr>
          </a:p>
          <a:p>
            <a:pPr marL="12700" marR="5080">
              <a:lnSpc>
                <a:spcPct val="147700"/>
              </a:lnSpc>
              <a:spcBef>
                <a:spcPts val="300"/>
              </a:spcBef>
            </a:pPr>
            <a:r>
              <a:rPr sz="2000" spc="55" dirty="0">
                <a:solidFill>
                  <a:srgbClr val="64738B"/>
                </a:solidFill>
                <a:latin typeface="Tahoma"/>
                <a:cs typeface="Tahoma"/>
              </a:rPr>
              <a:t>ClassifiesresourcesintoComputer</a:t>
            </a:r>
            <a:r>
              <a:rPr sz="2000" spc="-2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64738B"/>
                </a:solidFill>
                <a:latin typeface="Tahoma"/>
                <a:cs typeface="Tahoma"/>
              </a:rPr>
              <a:t>Science, </a:t>
            </a:r>
            <a:r>
              <a:rPr sz="2000" spc="30" dirty="0">
                <a:solidFill>
                  <a:srgbClr val="64738B"/>
                </a:solidFill>
                <a:latin typeface="Tahoma"/>
                <a:cs typeface="Tahoma"/>
              </a:rPr>
              <a:t>Engineering,</a:t>
            </a:r>
            <a:r>
              <a:rPr sz="2000" spc="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64738B"/>
                </a:solidFill>
                <a:latin typeface="Tahoma"/>
                <a:cs typeface="Tahoma"/>
              </a:rPr>
              <a:t>Mathematics,</a:t>
            </a:r>
            <a:r>
              <a:rPr sz="2000" spc="8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64738B"/>
                </a:solidFill>
                <a:latin typeface="Tahoma"/>
                <a:cs typeface="Tahoma"/>
              </a:rPr>
              <a:t>Humanities,</a:t>
            </a:r>
            <a:r>
              <a:rPr sz="2000" spc="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64738B"/>
                </a:solidFill>
                <a:latin typeface="Tahoma"/>
                <a:cs typeface="Tahoma"/>
              </a:rPr>
              <a:t>and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General</a:t>
            </a:r>
            <a:r>
              <a:rPr sz="2000" spc="10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64738B"/>
                </a:solidFill>
                <a:latin typeface="Tahoma"/>
                <a:cs typeface="Tahoma"/>
              </a:rPr>
              <a:t>Science</a:t>
            </a:r>
            <a:r>
              <a:rPr sz="2000" spc="11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domains.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495296" y="1902205"/>
            <a:ext cx="5071110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90" dirty="0">
                <a:solidFill>
                  <a:srgbClr val="0E1729"/>
                </a:solidFill>
              </a:rPr>
              <a:t>Module</a:t>
            </a:r>
            <a:r>
              <a:rPr sz="2550" spc="-155" dirty="0">
                <a:solidFill>
                  <a:srgbClr val="0E1729"/>
                </a:solidFill>
              </a:rPr>
              <a:t> </a:t>
            </a:r>
            <a:r>
              <a:rPr sz="2550" spc="-254" dirty="0">
                <a:solidFill>
                  <a:srgbClr val="0E1729"/>
                </a:solidFill>
              </a:rPr>
              <a:t>2</a:t>
            </a:r>
            <a:r>
              <a:rPr sz="2550" spc="-155" dirty="0">
                <a:solidFill>
                  <a:srgbClr val="0E1729"/>
                </a:solidFill>
              </a:rPr>
              <a:t> </a:t>
            </a:r>
            <a:r>
              <a:rPr sz="2550" dirty="0">
                <a:solidFill>
                  <a:srgbClr val="0E1729"/>
                </a:solidFill>
              </a:rPr>
              <a:t>-</a:t>
            </a:r>
            <a:r>
              <a:rPr sz="2550" spc="-155" dirty="0">
                <a:solidFill>
                  <a:srgbClr val="0E1729"/>
                </a:solidFill>
              </a:rPr>
              <a:t> </a:t>
            </a:r>
            <a:r>
              <a:rPr sz="2550" spc="-125" dirty="0">
                <a:solidFill>
                  <a:srgbClr val="0E1729"/>
                </a:solidFill>
              </a:rPr>
              <a:t>Smart</a:t>
            </a:r>
            <a:r>
              <a:rPr sz="2550" spc="-155" dirty="0">
                <a:solidFill>
                  <a:srgbClr val="0E1729"/>
                </a:solidFill>
              </a:rPr>
              <a:t> </a:t>
            </a:r>
            <a:r>
              <a:rPr sz="2550" spc="-120" dirty="0">
                <a:solidFill>
                  <a:srgbClr val="0E1729"/>
                </a:solidFill>
              </a:rPr>
              <a:t>Classiﬁcation</a:t>
            </a:r>
            <a:endParaRPr sz="2550"/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657" cy="10589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1" y="2590800"/>
            <a:ext cx="3924300" cy="3962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076" y="2590800"/>
            <a:ext cx="3924300" cy="3962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6775" y="2819400"/>
            <a:ext cx="180974" cy="2092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81600" y="2838451"/>
            <a:ext cx="209549" cy="2095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41388" y="2775374"/>
            <a:ext cx="3184525" cy="35695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00"/>
              </a:spcBef>
            </a:pPr>
            <a:r>
              <a:rPr spc="-120" dirty="0">
                <a:solidFill>
                  <a:srgbClr val="0183C7"/>
                </a:solidFill>
                <a:latin typeface="Arial Black"/>
                <a:cs typeface="Arial Black"/>
              </a:rPr>
              <a:t>Resource</a:t>
            </a:r>
            <a:r>
              <a:rPr spc="-75" dirty="0">
                <a:solidFill>
                  <a:srgbClr val="0183C7"/>
                </a:solidFill>
                <a:latin typeface="Arial Black"/>
                <a:cs typeface="Arial Black"/>
              </a:rPr>
              <a:t> </a:t>
            </a:r>
            <a:r>
              <a:rPr spc="-55" dirty="0">
                <a:solidFill>
                  <a:srgbClr val="0183C7"/>
                </a:solidFill>
                <a:latin typeface="Arial Black"/>
                <a:cs typeface="Arial Black"/>
              </a:rPr>
              <a:t>Inventory</a:t>
            </a:r>
            <a:r>
              <a:rPr spc="-75" dirty="0">
                <a:solidFill>
                  <a:srgbClr val="0183C7"/>
                </a:solidFill>
                <a:latin typeface="Arial Black"/>
                <a:cs typeface="Arial Black"/>
              </a:rPr>
              <a:t> </a:t>
            </a:r>
            <a:r>
              <a:rPr spc="-20" dirty="0">
                <a:solidFill>
                  <a:srgbClr val="0183C7"/>
                </a:solidFill>
                <a:latin typeface="Arial Black"/>
                <a:cs typeface="Arial Black"/>
              </a:rPr>
              <a:t>Logic</a:t>
            </a:r>
            <a:endParaRPr dirty="0">
              <a:latin typeface="Arial Black"/>
              <a:cs typeface="Arial Black"/>
            </a:endParaRPr>
          </a:p>
          <a:p>
            <a:pPr marL="12700" marR="5080">
              <a:lnSpc>
                <a:spcPct val="156200"/>
              </a:lnSpc>
              <a:spcBef>
                <a:spcPts val="305"/>
              </a:spcBef>
            </a:pP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Maintain</a:t>
            </a:r>
            <a:r>
              <a:rPr lang="en-IN" dirty="0">
                <a:solidFill>
                  <a:srgbClr val="465469"/>
                </a:solidFill>
                <a:latin typeface="Tahoma"/>
                <a:cs typeface="Tahoma"/>
              </a:rPr>
              <a:t>s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dynamic</a:t>
            </a:r>
            <a:r>
              <a:rPr lang="en-IN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records</a:t>
            </a:r>
            <a:r>
              <a:rPr lang="en-IN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of</a:t>
            </a:r>
            <a:r>
              <a:rPr spc="65" dirty="0">
                <a:solidFill>
                  <a:srgbClr val="465469"/>
                </a:solidFill>
                <a:latin typeface="Tahoma"/>
                <a:cs typeface="Tahoma"/>
              </a:rPr>
              <a:t> 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all</a:t>
            </a:r>
            <a:r>
              <a:rPr lang="en-IN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available</a:t>
            </a:r>
            <a:r>
              <a:rPr spc="65" dirty="0">
                <a:solidFill>
                  <a:srgbClr val="465469"/>
                </a:solidFill>
                <a:latin typeface="Tahoma"/>
                <a:cs typeface="Tahoma"/>
              </a:rPr>
              <a:t> 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learning</a:t>
            </a:r>
            <a:r>
              <a:rPr spc="65" dirty="0">
                <a:solidFill>
                  <a:srgbClr val="465469"/>
                </a:solidFill>
                <a:latin typeface="Tahoma"/>
                <a:cs typeface="Tahoma"/>
              </a:rPr>
              <a:t>  </a:t>
            </a:r>
            <a:r>
              <a:rPr spc="-10" dirty="0">
                <a:solidFill>
                  <a:srgbClr val="465469"/>
                </a:solidFill>
                <a:latin typeface="Tahoma"/>
                <a:cs typeface="Tahoma"/>
              </a:rPr>
              <a:t>materials. </a:t>
            </a:r>
            <a:r>
              <a:rPr spc="55" dirty="0">
                <a:solidFill>
                  <a:srgbClr val="465469"/>
                </a:solidFill>
                <a:latin typeface="Tahoma"/>
                <a:cs typeface="Tahoma"/>
              </a:rPr>
              <a:t>Tracks</a:t>
            </a:r>
            <a:r>
              <a:rPr spc="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current</a:t>
            </a:r>
            <a:r>
              <a:rPr spc="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stock,</a:t>
            </a:r>
            <a:r>
              <a:rPr spc="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allocated</a:t>
            </a:r>
            <a:r>
              <a:rPr spc="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active</a:t>
            </a:r>
            <a:r>
              <a:rPr spc="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licenses,</a:t>
            </a:r>
            <a:r>
              <a:rPr spc="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digital</a:t>
            </a:r>
            <a:r>
              <a:rPr spc="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file</a:t>
            </a:r>
            <a:r>
              <a:rPr spc="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65469"/>
                </a:solidFill>
                <a:latin typeface="Tahoma"/>
                <a:cs typeface="Tahoma"/>
              </a:rPr>
              <a:t>paths,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and</a:t>
            </a:r>
            <a:r>
              <a:rPr spc="9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publisher</a:t>
            </a:r>
            <a:r>
              <a:rPr spc="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metadata</a:t>
            </a:r>
            <a:r>
              <a:rPr spc="9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in</a:t>
            </a:r>
            <a:r>
              <a:rPr spc="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real</a:t>
            </a:r>
            <a:r>
              <a:rPr spc="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65469"/>
                </a:solidFill>
                <a:latin typeface="Tahoma"/>
                <a:cs typeface="Tahoma"/>
              </a:rPr>
              <a:t>time.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1377" y="2775374"/>
            <a:ext cx="3048000" cy="32925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100"/>
              </a:spcBef>
            </a:pPr>
            <a:r>
              <a:rPr spc="-165" dirty="0">
                <a:solidFill>
                  <a:srgbClr val="0183C7"/>
                </a:solidFill>
                <a:latin typeface="Arial Black"/>
                <a:cs typeface="Arial Black"/>
              </a:rPr>
              <a:t>CRUD</a:t>
            </a:r>
            <a:r>
              <a:rPr spc="-80" dirty="0">
                <a:solidFill>
                  <a:srgbClr val="0183C7"/>
                </a:solidFill>
                <a:latin typeface="Arial Black"/>
                <a:cs typeface="Arial Black"/>
              </a:rPr>
              <a:t> </a:t>
            </a:r>
            <a:r>
              <a:rPr spc="-10" dirty="0">
                <a:solidFill>
                  <a:srgbClr val="0183C7"/>
                </a:solidFill>
                <a:latin typeface="Arial Black"/>
                <a:cs typeface="Arial Black"/>
              </a:rPr>
              <a:t>Operations</a:t>
            </a:r>
            <a:endParaRPr dirty="0">
              <a:latin typeface="Arial Black"/>
              <a:cs typeface="Arial Black"/>
            </a:endParaRPr>
          </a:p>
          <a:p>
            <a:pPr marL="12700" marR="5080">
              <a:lnSpc>
                <a:spcPct val="156200"/>
              </a:lnSpc>
              <a:spcBef>
                <a:spcPts val="305"/>
              </a:spcBef>
            </a:pPr>
            <a:r>
              <a:rPr spc="50" dirty="0">
                <a:solidFill>
                  <a:srgbClr val="465469"/>
                </a:solidFill>
                <a:latin typeface="Tahoma"/>
                <a:cs typeface="Tahoma"/>
              </a:rPr>
              <a:t>Provides</a:t>
            </a:r>
            <a:r>
              <a:rPr spc="5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authorized</a:t>
            </a:r>
            <a:r>
              <a:rPr spc="5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administrators</a:t>
            </a:r>
            <a:r>
              <a:rPr spc="6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with</a:t>
            </a:r>
            <a:r>
              <a:rPr spc="5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options</a:t>
            </a:r>
            <a:r>
              <a:rPr spc="6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65469"/>
                </a:solidFill>
                <a:latin typeface="Tahoma"/>
                <a:cs typeface="Tahoma"/>
              </a:rPr>
              <a:t>to</a:t>
            </a:r>
            <a:r>
              <a:rPr spc="5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65469"/>
                </a:solidFill>
                <a:latin typeface="Tahoma"/>
                <a:cs typeface="Tahoma"/>
              </a:rPr>
              <a:t>add</a:t>
            </a:r>
            <a:r>
              <a:rPr spc="6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65469"/>
                </a:solidFill>
                <a:latin typeface="Tahoma"/>
                <a:cs typeface="Tahoma"/>
              </a:rPr>
              <a:t>newly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acquired</a:t>
            </a:r>
            <a:r>
              <a:rPr spc="13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digital</a:t>
            </a:r>
            <a:r>
              <a:rPr spc="13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titles,</a:t>
            </a:r>
            <a:r>
              <a:rPr spc="14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update</a:t>
            </a:r>
            <a:r>
              <a:rPr spc="13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existing</a:t>
            </a:r>
            <a:r>
              <a:rPr spc="13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65469"/>
                </a:solidFill>
                <a:latin typeface="Tahoma"/>
                <a:cs typeface="Tahoma"/>
              </a:rPr>
              <a:t>metadata,</a:t>
            </a:r>
            <a:r>
              <a:rPr spc="14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65469"/>
                </a:solidFill>
                <a:latin typeface="Tahoma"/>
                <a:cs typeface="Tahoma"/>
              </a:rPr>
              <a:t>remove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deprecated</a:t>
            </a:r>
            <a:r>
              <a:rPr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editions,</a:t>
            </a:r>
            <a:r>
              <a:rPr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and</a:t>
            </a:r>
            <a:r>
              <a:rPr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modify</a:t>
            </a:r>
            <a:r>
              <a:rPr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active</a:t>
            </a:r>
            <a:r>
              <a:rPr spc="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65469"/>
                </a:solidFill>
                <a:latin typeface="Tahoma"/>
                <a:cs typeface="Tahoma"/>
              </a:rPr>
              <a:t>license</a:t>
            </a:r>
            <a:r>
              <a:rPr spc="9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65469"/>
                </a:solidFill>
                <a:latin typeface="Tahoma"/>
                <a:cs typeface="Tahoma"/>
              </a:rPr>
              <a:t>limits.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39022" y="1575424"/>
            <a:ext cx="659130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>
                <a:solidFill>
                  <a:srgbClr val="0E1729"/>
                </a:solidFill>
              </a:rPr>
              <a:t>Module</a:t>
            </a:r>
            <a:r>
              <a:rPr sz="2800" spc="-155" dirty="0">
                <a:solidFill>
                  <a:srgbClr val="0E1729"/>
                </a:solidFill>
              </a:rPr>
              <a:t> </a:t>
            </a:r>
            <a:r>
              <a:rPr sz="2800" spc="-254" dirty="0">
                <a:solidFill>
                  <a:srgbClr val="0E1729"/>
                </a:solidFill>
              </a:rPr>
              <a:t>3</a:t>
            </a:r>
            <a:r>
              <a:rPr sz="2800" spc="-150" dirty="0">
                <a:solidFill>
                  <a:srgbClr val="0E1729"/>
                </a:solidFill>
              </a:rPr>
              <a:t> </a:t>
            </a:r>
            <a:r>
              <a:rPr sz="2800" dirty="0">
                <a:solidFill>
                  <a:srgbClr val="0E1729"/>
                </a:solidFill>
              </a:rPr>
              <a:t>-</a:t>
            </a:r>
            <a:r>
              <a:rPr sz="2800" spc="-150" dirty="0">
                <a:solidFill>
                  <a:srgbClr val="0E1729"/>
                </a:solidFill>
              </a:rPr>
              <a:t> </a:t>
            </a:r>
            <a:r>
              <a:rPr sz="2800" spc="-105" dirty="0">
                <a:solidFill>
                  <a:srgbClr val="0E1729"/>
                </a:solidFill>
              </a:rPr>
              <a:t>Digital</a:t>
            </a:r>
            <a:r>
              <a:rPr sz="2800" spc="-155" dirty="0">
                <a:solidFill>
                  <a:srgbClr val="0E1729"/>
                </a:solidFill>
              </a:rPr>
              <a:t> </a:t>
            </a:r>
            <a:r>
              <a:rPr sz="2800" spc="-185" dirty="0">
                <a:solidFill>
                  <a:srgbClr val="0E1729"/>
                </a:solidFill>
              </a:rPr>
              <a:t>Resource</a:t>
            </a:r>
            <a:r>
              <a:rPr sz="2800" spc="-150" dirty="0">
                <a:solidFill>
                  <a:srgbClr val="0E1729"/>
                </a:solidFill>
              </a:rPr>
              <a:t> </a:t>
            </a:r>
            <a:r>
              <a:rPr sz="2800" spc="-100" dirty="0">
                <a:solidFill>
                  <a:srgbClr val="0E1729"/>
                </a:solidFill>
              </a:rPr>
              <a:t>Engine</a:t>
            </a:r>
            <a:endParaRPr sz="2800" dirty="0"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0657" cy="1058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23C092-2E0E-27E2-3CC3-404FDE8FE6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5153" y="2056024"/>
            <a:ext cx="3375504" cy="4801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514600"/>
            <a:ext cx="123824" cy="1142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3752999"/>
            <a:ext cx="95249" cy="1332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4953000"/>
            <a:ext cx="95249" cy="1332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6172200"/>
            <a:ext cx="123824" cy="114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8200" y="2374239"/>
            <a:ext cx="6762751" cy="43633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20" dirty="0">
                <a:solidFill>
                  <a:srgbClr val="334054"/>
                </a:solidFill>
                <a:latin typeface="Tahoma"/>
                <a:cs typeface="Tahoma"/>
              </a:rPr>
              <a:t>Automated</a:t>
            </a:r>
            <a:r>
              <a:rPr sz="2000" b="1" spc="-1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spc="-40" dirty="0">
                <a:solidFill>
                  <a:srgbClr val="334054"/>
                </a:solidFill>
                <a:latin typeface="Tahoma"/>
                <a:cs typeface="Tahoma"/>
              </a:rPr>
              <a:t>Digital</a:t>
            </a:r>
            <a:r>
              <a:rPr sz="2000" b="1" spc="-1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334054"/>
                </a:solidFill>
                <a:latin typeface="Tahoma"/>
                <a:cs typeface="Tahoma"/>
              </a:rPr>
              <a:t>Checkout:</a:t>
            </a:r>
            <a:r>
              <a:rPr sz="2000" b="1" spc="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334054"/>
                </a:solidFill>
                <a:latin typeface="Tahoma"/>
                <a:cs typeface="Tahoma"/>
              </a:rPr>
              <a:t>Users</a:t>
            </a:r>
            <a:r>
              <a:rPr sz="2000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334054"/>
                </a:solidFill>
                <a:latin typeface="Tahoma"/>
                <a:cs typeface="Tahoma"/>
              </a:rPr>
              <a:t>can</a:t>
            </a:r>
            <a:r>
              <a:rPr sz="2000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request</a:t>
            </a:r>
            <a:r>
              <a:rPr sz="2000" spc="2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instant</a:t>
            </a:r>
            <a:r>
              <a:rPr sz="2000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95" dirty="0">
                <a:solidFill>
                  <a:srgbClr val="334054"/>
                </a:solidFill>
                <a:latin typeface="Tahoma"/>
                <a:cs typeface="Tahoma"/>
              </a:rPr>
              <a:t>access</a:t>
            </a:r>
            <a:r>
              <a:rPr sz="2000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334054"/>
                </a:solidFill>
                <a:latin typeface="Tahoma"/>
                <a:cs typeface="Tahoma"/>
              </a:rPr>
              <a:t>keys</a:t>
            </a:r>
            <a:r>
              <a:rPr sz="2000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or</a:t>
            </a:r>
            <a:r>
              <a:rPr sz="2000" spc="2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downloadable</a:t>
            </a:r>
            <a:r>
              <a:rPr sz="2000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334054"/>
                </a:solidFill>
                <a:latin typeface="Tahoma"/>
                <a:cs typeface="Tahoma"/>
              </a:rPr>
              <a:t>copies</a:t>
            </a:r>
            <a:r>
              <a:rPr sz="2000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if</a:t>
            </a:r>
            <a:r>
              <a:rPr sz="2000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334054"/>
                </a:solidFill>
                <a:latin typeface="Tahoma"/>
                <a:cs typeface="Tahoma"/>
              </a:rPr>
              <a:t>licenses</a:t>
            </a:r>
            <a:r>
              <a:rPr sz="2000" spc="2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are</a:t>
            </a:r>
            <a:r>
              <a:rPr sz="2000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within</a:t>
            </a:r>
            <a:r>
              <a:rPr sz="2000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334054"/>
                </a:solidFill>
                <a:latin typeface="Tahoma"/>
                <a:cs typeface="Tahoma"/>
              </a:rPr>
              <a:t>safe</a:t>
            </a:r>
            <a:r>
              <a:rPr sz="2000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334054"/>
                </a:solidFill>
                <a:latin typeface="Tahoma"/>
                <a:cs typeface="Tahoma"/>
              </a:rPr>
              <a:t>thresholds.</a:t>
            </a:r>
            <a:endParaRPr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b="1" spc="-20" dirty="0">
                <a:solidFill>
                  <a:srgbClr val="334054"/>
                </a:solidFill>
                <a:latin typeface="Tahoma"/>
                <a:cs typeface="Tahoma"/>
              </a:rPr>
              <a:t>Loan</a:t>
            </a:r>
            <a:r>
              <a:rPr sz="2000" b="1" spc="-1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spc="-35" dirty="0">
                <a:solidFill>
                  <a:srgbClr val="334054"/>
                </a:solidFill>
                <a:latin typeface="Tahoma"/>
                <a:cs typeface="Tahoma"/>
              </a:rPr>
              <a:t>Duration</a:t>
            </a:r>
            <a:r>
              <a:rPr sz="2000" b="1" spc="-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334054"/>
                </a:solidFill>
                <a:latin typeface="Tahoma"/>
                <a:cs typeface="Tahoma"/>
              </a:rPr>
              <a:t>Enforcement:</a:t>
            </a:r>
            <a:r>
              <a:rPr sz="2000" b="1" spc="6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334054"/>
                </a:solidFill>
                <a:latin typeface="Tahoma"/>
                <a:cs typeface="Tahoma"/>
              </a:rPr>
              <a:t>Sets</a:t>
            </a:r>
            <a:r>
              <a:rPr sz="2000" spc="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334054"/>
                </a:solidFill>
                <a:latin typeface="Tahoma"/>
                <a:cs typeface="Tahoma"/>
              </a:rPr>
              <a:t>auto-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expiring</a:t>
            </a:r>
            <a:r>
              <a:rPr sz="2000"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334054"/>
                </a:solidFill>
                <a:latin typeface="Tahoma"/>
                <a:cs typeface="Tahoma"/>
              </a:rPr>
              <a:t>checkout</a:t>
            </a:r>
            <a:r>
              <a:rPr sz="2000" spc="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periods</a:t>
            </a:r>
            <a:r>
              <a:rPr sz="2000"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(e.g.,</a:t>
            </a:r>
            <a:r>
              <a:rPr sz="2000" spc="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334054"/>
                </a:solidFill>
                <a:latin typeface="Tahoma"/>
                <a:cs typeface="Tahoma"/>
              </a:rPr>
              <a:t>14</a:t>
            </a:r>
            <a:r>
              <a:rPr sz="2000"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334054"/>
                </a:solidFill>
                <a:latin typeface="Tahoma"/>
                <a:cs typeface="Tahoma"/>
              </a:rPr>
              <a:t>days</a:t>
            </a:r>
            <a:r>
              <a:rPr sz="2000" spc="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for</a:t>
            </a:r>
            <a:r>
              <a:rPr sz="2000"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students,</a:t>
            </a:r>
            <a:r>
              <a:rPr sz="2000" spc="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100" dirty="0">
                <a:solidFill>
                  <a:srgbClr val="334054"/>
                </a:solidFill>
                <a:latin typeface="Tahoma"/>
                <a:cs typeface="Tahoma"/>
              </a:rPr>
              <a:t>30</a:t>
            </a:r>
            <a:r>
              <a:rPr sz="2000"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75" dirty="0">
                <a:solidFill>
                  <a:srgbClr val="334054"/>
                </a:solidFill>
                <a:latin typeface="Tahoma"/>
                <a:cs typeface="Tahoma"/>
              </a:rPr>
              <a:t>days</a:t>
            </a:r>
            <a:r>
              <a:rPr sz="2000" spc="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for</a:t>
            </a:r>
            <a:r>
              <a:rPr sz="2000"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334054"/>
                </a:solidFill>
                <a:latin typeface="Tahoma"/>
                <a:cs typeface="Tahoma"/>
              </a:rPr>
              <a:t>faculty).</a:t>
            </a:r>
            <a:endParaRPr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334054"/>
                </a:solidFill>
                <a:latin typeface="Tahoma"/>
                <a:cs typeface="Tahoma"/>
              </a:rPr>
              <a:t>Fine</a:t>
            </a:r>
            <a:r>
              <a:rPr sz="2000" b="1"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334054"/>
                </a:solidFill>
                <a:latin typeface="Tahoma"/>
                <a:cs typeface="Tahoma"/>
              </a:rPr>
              <a:t>Calculation</a:t>
            </a:r>
            <a:r>
              <a:rPr sz="2000" b="1"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334054"/>
                </a:solidFill>
                <a:latin typeface="Tahoma"/>
                <a:cs typeface="Tahoma"/>
              </a:rPr>
              <a:t>Logic:</a:t>
            </a:r>
            <a:r>
              <a:rPr sz="2000" b="1" spc="1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Programmatically</a:t>
            </a:r>
            <a:r>
              <a:rPr sz="20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calculates</a:t>
            </a:r>
            <a:r>
              <a:rPr sz="20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overdue</a:t>
            </a:r>
            <a:r>
              <a:rPr sz="20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334054"/>
                </a:solidFill>
                <a:latin typeface="Tahoma"/>
                <a:cs typeface="Tahoma"/>
              </a:rPr>
              <a:t>fines</a:t>
            </a:r>
            <a:r>
              <a:rPr sz="20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for</a:t>
            </a:r>
            <a:r>
              <a:rPr sz="20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334054"/>
                </a:solidFill>
                <a:latin typeface="Tahoma"/>
                <a:cs typeface="Tahoma"/>
              </a:rPr>
              <a:t>delayed</a:t>
            </a:r>
            <a:r>
              <a:rPr sz="20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digital</a:t>
            </a:r>
            <a:r>
              <a:rPr sz="20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returns</a:t>
            </a:r>
            <a:r>
              <a:rPr sz="2000" spc="9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334054"/>
                </a:solidFill>
                <a:latin typeface="Tahoma"/>
                <a:cs typeface="Tahoma"/>
              </a:rPr>
              <a:t>based</a:t>
            </a:r>
            <a:r>
              <a:rPr sz="20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on</a:t>
            </a:r>
            <a:r>
              <a:rPr sz="20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daily</a:t>
            </a:r>
            <a:r>
              <a:rPr sz="20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penalty</a:t>
            </a:r>
            <a:r>
              <a:rPr sz="20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334054"/>
                </a:solidFill>
                <a:latin typeface="Tahoma"/>
                <a:cs typeface="Tahoma"/>
              </a:rPr>
              <a:t>rates.</a:t>
            </a:r>
            <a:endParaRPr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b="1" spc="-30" dirty="0">
                <a:solidFill>
                  <a:srgbClr val="334054"/>
                </a:solidFill>
                <a:latin typeface="Tahoma"/>
                <a:cs typeface="Tahoma"/>
              </a:rPr>
              <a:t>Waitlist</a:t>
            </a:r>
            <a:r>
              <a:rPr sz="2000" b="1" spc="2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b="1" spc="-30" dirty="0">
                <a:solidFill>
                  <a:srgbClr val="334054"/>
                </a:solidFill>
                <a:latin typeface="Tahoma"/>
                <a:cs typeface="Tahoma"/>
              </a:rPr>
              <a:t>Prioritization:</a:t>
            </a:r>
            <a:r>
              <a:rPr sz="2000" b="1" spc="10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334054"/>
                </a:solidFill>
                <a:latin typeface="Tahoma"/>
                <a:cs typeface="Tahoma"/>
              </a:rPr>
              <a:t>Queues</a:t>
            </a:r>
            <a:r>
              <a:rPr sz="2000" spc="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334054"/>
                </a:solidFill>
                <a:latin typeface="Tahoma"/>
                <a:cs typeface="Tahoma"/>
              </a:rPr>
              <a:t>checkout</a:t>
            </a:r>
            <a:r>
              <a:rPr sz="20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334054"/>
                </a:solidFill>
                <a:latin typeface="Tahoma"/>
                <a:cs typeface="Tahoma"/>
              </a:rPr>
              <a:t>requests</a:t>
            </a:r>
            <a:r>
              <a:rPr sz="20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when</a:t>
            </a:r>
            <a:r>
              <a:rPr sz="2000" spc="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maximum</a:t>
            </a:r>
            <a:r>
              <a:rPr sz="20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digital</a:t>
            </a:r>
            <a:r>
              <a:rPr sz="20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334054"/>
                </a:solidFill>
                <a:latin typeface="Tahoma"/>
                <a:cs typeface="Tahoma"/>
              </a:rPr>
              <a:t>license</a:t>
            </a:r>
            <a:r>
              <a:rPr sz="2000" spc="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limits</a:t>
            </a:r>
            <a:r>
              <a:rPr sz="20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are</a:t>
            </a:r>
            <a:r>
              <a:rPr sz="2000" spc="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334054"/>
                </a:solidFill>
                <a:latin typeface="Tahoma"/>
                <a:cs typeface="Tahoma"/>
              </a:rPr>
              <a:t>temporarily</a:t>
            </a:r>
            <a:r>
              <a:rPr sz="20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334054"/>
                </a:solidFill>
                <a:latin typeface="Tahoma"/>
                <a:cs typeface="Tahoma"/>
              </a:rPr>
              <a:t>reached.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71500" y="1695286"/>
            <a:ext cx="6318885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90" dirty="0">
                <a:solidFill>
                  <a:srgbClr val="0E1729"/>
                </a:solidFill>
              </a:rPr>
              <a:t>Module</a:t>
            </a:r>
            <a:r>
              <a:rPr sz="2550" spc="-150" dirty="0">
                <a:solidFill>
                  <a:srgbClr val="0E1729"/>
                </a:solidFill>
              </a:rPr>
              <a:t> </a:t>
            </a:r>
            <a:r>
              <a:rPr sz="2550" spc="-254" dirty="0">
                <a:solidFill>
                  <a:srgbClr val="0E1729"/>
                </a:solidFill>
              </a:rPr>
              <a:t>4</a:t>
            </a:r>
            <a:r>
              <a:rPr sz="2550" spc="-150" dirty="0">
                <a:solidFill>
                  <a:srgbClr val="0E1729"/>
                </a:solidFill>
              </a:rPr>
              <a:t> </a:t>
            </a:r>
            <a:r>
              <a:rPr sz="2550" dirty="0">
                <a:solidFill>
                  <a:srgbClr val="0E1729"/>
                </a:solidFill>
              </a:rPr>
              <a:t>-</a:t>
            </a:r>
            <a:r>
              <a:rPr sz="2550" spc="-150" dirty="0">
                <a:solidFill>
                  <a:srgbClr val="0E1729"/>
                </a:solidFill>
              </a:rPr>
              <a:t> </a:t>
            </a:r>
            <a:r>
              <a:rPr sz="2550" spc="-114" dirty="0">
                <a:solidFill>
                  <a:srgbClr val="0E1729"/>
                </a:solidFill>
              </a:rPr>
              <a:t>Borrowing</a:t>
            </a:r>
            <a:r>
              <a:rPr sz="2550" spc="-145" dirty="0">
                <a:solidFill>
                  <a:srgbClr val="0E1729"/>
                </a:solidFill>
              </a:rPr>
              <a:t> </a:t>
            </a:r>
            <a:r>
              <a:rPr sz="2550" spc="-365" dirty="0">
                <a:solidFill>
                  <a:srgbClr val="0E1729"/>
                </a:solidFill>
              </a:rPr>
              <a:t>&amp;</a:t>
            </a:r>
            <a:r>
              <a:rPr sz="2550" spc="-150" dirty="0">
                <a:solidFill>
                  <a:srgbClr val="0E1729"/>
                </a:solidFill>
              </a:rPr>
              <a:t> </a:t>
            </a:r>
            <a:r>
              <a:rPr sz="2550" spc="-295" dirty="0">
                <a:solidFill>
                  <a:srgbClr val="0E1729"/>
                </a:solidFill>
              </a:rPr>
              <a:t>Access</a:t>
            </a:r>
            <a:r>
              <a:rPr sz="2550" spc="-150" dirty="0">
                <a:solidFill>
                  <a:srgbClr val="0E1729"/>
                </a:solidFill>
              </a:rPr>
              <a:t> </a:t>
            </a:r>
            <a:r>
              <a:rPr sz="2550" spc="-45" dirty="0">
                <a:solidFill>
                  <a:srgbClr val="0E1729"/>
                </a:solidFill>
              </a:rPr>
              <a:t>Control</a:t>
            </a:r>
            <a:endParaRPr sz="2550" dirty="0"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0657" cy="10589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B0D508-FCE6-A8EC-AA4B-60BB342E37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0952" y="2380996"/>
            <a:ext cx="4589706" cy="32197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3124200"/>
            <a:ext cx="123824" cy="114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4343400"/>
            <a:ext cx="123824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5429251"/>
            <a:ext cx="123824" cy="13334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495296" y="2589976"/>
            <a:ext cx="4802507" cy="37354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10" dirty="0"/>
              <a:t>Paperless</a:t>
            </a:r>
            <a:r>
              <a:rPr sz="2000" spc="-65" dirty="0"/>
              <a:t> </a:t>
            </a:r>
            <a:r>
              <a:rPr sz="2000" spc="-85" dirty="0"/>
              <a:t>Repository</a:t>
            </a:r>
            <a:r>
              <a:rPr sz="2000" spc="-65" dirty="0"/>
              <a:t> </a:t>
            </a:r>
            <a:r>
              <a:rPr sz="2000" spc="-10" dirty="0"/>
              <a:t>Features</a:t>
            </a:r>
          </a:p>
          <a:p>
            <a:pPr marL="374015" marR="83820">
              <a:lnSpc>
                <a:spcPct val="150000"/>
              </a:lnSpc>
              <a:spcBef>
                <a:spcPts val="580"/>
              </a:spcBef>
            </a:pPr>
            <a:r>
              <a:rPr sz="1600" b="1" dirty="0">
                <a:solidFill>
                  <a:srgbClr val="334054"/>
                </a:solidFill>
                <a:latin typeface="Tahoma"/>
                <a:cs typeface="Tahoma"/>
              </a:rPr>
              <a:t>Course</a:t>
            </a:r>
            <a:r>
              <a:rPr sz="1600" b="1" spc="-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334054"/>
                </a:solidFill>
                <a:latin typeface="Tahoma"/>
                <a:cs typeface="Tahoma"/>
              </a:rPr>
              <a:t>Reader</a:t>
            </a:r>
            <a:r>
              <a:rPr sz="1600" b="1" spc="-1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334054"/>
                </a:solidFill>
                <a:latin typeface="Tahoma"/>
                <a:cs typeface="Tahoma"/>
              </a:rPr>
              <a:t>Archiving:</a:t>
            </a:r>
            <a:r>
              <a:rPr sz="1600" b="1" spc="5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334054"/>
                </a:solidFill>
                <a:latin typeface="Tahoma"/>
                <a:cs typeface="Tahoma"/>
              </a:rPr>
              <a:t>Bundles</a:t>
            </a:r>
            <a:r>
              <a:rPr sz="1600" spc="2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334054"/>
                </a:solidFill>
                <a:latin typeface="Tahoma"/>
                <a:cs typeface="Tahoma"/>
              </a:rPr>
              <a:t>subject</a:t>
            </a:r>
            <a:r>
              <a:rPr sz="1600" spc="2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material,</a:t>
            </a:r>
            <a:r>
              <a:rPr sz="1600" spc="2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334054"/>
                </a:solidFill>
                <a:latin typeface="Tahoma"/>
                <a:cs typeface="Tahoma"/>
              </a:rPr>
              <a:t>syllabus </a:t>
            </a:r>
            <a:r>
              <a:rPr sz="1600" spc="60" dirty="0">
                <a:solidFill>
                  <a:srgbClr val="334054"/>
                </a:solidFill>
                <a:latin typeface="Tahoma"/>
                <a:cs typeface="Tahoma"/>
              </a:rPr>
              <a:t>PDFs,</a:t>
            </a:r>
            <a:r>
              <a:rPr sz="1600"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334054"/>
                </a:solidFill>
                <a:latin typeface="Tahoma"/>
                <a:cs typeface="Tahoma"/>
              </a:rPr>
              <a:t>and</a:t>
            </a:r>
            <a:r>
              <a:rPr sz="1600"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334054"/>
                </a:solidFill>
                <a:latin typeface="Tahoma"/>
                <a:cs typeface="Tahoma"/>
              </a:rPr>
              <a:t>historical</a:t>
            </a:r>
            <a:r>
              <a:rPr sz="1600"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334054"/>
                </a:solidFill>
                <a:latin typeface="Tahoma"/>
                <a:cs typeface="Tahoma"/>
              </a:rPr>
              <a:t>exam</a:t>
            </a:r>
            <a:r>
              <a:rPr sz="1600"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334054"/>
                </a:solidFill>
                <a:latin typeface="Tahoma"/>
                <a:cs typeface="Tahoma"/>
              </a:rPr>
              <a:t>papers</a:t>
            </a:r>
            <a:r>
              <a:rPr sz="1600" spc="2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334054"/>
                </a:solidFill>
                <a:latin typeface="Tahoma"/>
                <a:cs typeface="Tahoma"/>
              </a:rPr>
              <a:t>per</a:t>
            </a:r>
            <a:r>
              <a:rPr sz="1600"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334054"/>
                </a:solidFill>
                <a:latin typeface="Tahoma"/>
                <a:cs typeface="Tahoma"/>
              </a:rPr>
              <a:t>department.</a:t>
            </a:r>
            <a:endParaRPr sz="1600" dirty="0">
              <a:latin typeface="Tahoma"/>
              <a:cs typeface="Tahoma"/>
            </a:endParaRPr>
          </a:p>
          <a:p>
            <a:pPr marL="374015" marR="82550">
              <a:lnSpc>
                <a:spcPct val="150000"/>
              </a:lnSpc>
              <a:spcBef>
                <a:spcPts val="450"/>
              </a:spcBef>
            </a:pPr>
            <a:r>
              <a:rPr sz="1600" b="1" spc="-10" dirty="0">
                <a:solidFill>
                  <a:srgbClr val="334054"/>
                </a:solidFill>
                <a:latin typeface="Tahoma"/>
                <a:cs typeface="Tahoma"/>
              </a:rPr>
              <a:t>Disk</a:t>
            </a:r>
            <a:r>
              <a:rPr sz="1600" b="1"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334054"/>
                </a:solidFill>
                <a:latin typeface="Tahoma"/>
                <a:cs typeface="Tahoma"/>
              </a:rPr>
              <a:t>Storage</a:t>
            </a:r>
            <a:r>
              <a:rPr sz="1600" b="1"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334054"/>
                </a:solidFill>
                <a:latin typeface="Tahoma"/>
                <a:cs typeface="Tahoma"/>
              </a:rPr>
              <a:t>Compression:</a:t>
            </a:r>
            <a:r>
              <a:rPr sz="1600" b="1" spc="1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Efficient</a:t>
            </a:r>
            <a:r>
              <a:rPr sz="16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file</a:t>
            </a:r>
            <a:r>
              <a:rPr sz="16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334054"/>
                </a:solidFill>
                <a:latin typeface="Tahoma"/>
                <a:cs typeface="Tahoma"/>
              </a:rPr>
              <a:t>record</a:t>
            </a:r>
            <a:r>
              <a:rPr sz="16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formatting</a:t>
            </a:r>
            <a:r>
              <a:rPr sz="1600" spc="9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334054"/>
                </a:solidFill>
                <a:latin typeface="Tahoma"/>
                <a:cs typeface="Tahoma"/>
              </a:rPr>
              <a:t>in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binary</a:t>
            </a:r>
            <a:r>
              <a:rPr sz="1600" spc="15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stream</a:t>
            </a:r>
            <a:r>
              <a:rPr sz="1600" spc="15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format</a:t>
            </a:r>
            <a:r>
              <a:rPr sz="1600" spc="15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334054"/>
                </a:solidFill>
                <a:latin typeface="Tahoma"/>
                <a:cs typeface="Tahoma"/>
              </a:rPr>
              <a:t>(`fstream`).</a:t>
            </a:r>
            <a:endParaRPr sz="1600" dirty="0">
              <a:latin typeface="Tahoma"/>
              <a:cs typeface="Tahoma"/>
            </a:endParaRPr>
          </a:p>
          <a:p>
            <a:pPr marL="374015" marR="5080">
              <a:lnSpc>
                <a:spcPct val="150000"/>
              </a:lnSpc>
            </a:pPr>
            <a:r>
              <a:rPr sz="1600" b="1" dirty="0">
                <a:solidFill>
                  <a:srgbClr val="334054"/>
                </a:solidFill>
                <a:latin typeface="Tahoma"/>
                <a:cs typeface="Tahoma"/>
              </a:rPr>
              <a:t>Version</a:t>
            </a:r>
            <a:r>
              <a:rPr sz="1600" b="1"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334054"/>
                </a:solidFill>
                <a:latin typeface="Tahoma"/>
                <a:cs typeface="Tahoma"/>
              </a:rPr>
              <a:t>Control:</a:t>
            </a:r>
            <a:r>
              <a:rPr sz="1600" b="1" spc="10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334054"/>
                </a:solidFill>
                <a:latin typeface="Tahoma"/>
                <a:cs typeface="Tahoma"/>
              </a:rPr>
              <a:t>Maintains</a:t>
            </a:r>
            <a:r>
              <a:rPr sz="16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334054"/>
                </a:solidFill>
                <a:latin typeface="Tahoma"/>
                <a:cs typeface="Tahoma"/>
              </a:rPr>
              <a:t>old</a:t>
            </a:r>
            <a:r>
              <a:rPr sz="1600" spc="8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textbook</a:t>
            </a:r>
            <a:r>
              <a:rPr sz="16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editions</a:t>
            </a:r>
            <a:r>
              <a:rPr sz="16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in</a:t>
            </a:r>
            <a:r>
              <a:rPr sz="1600" spc="8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334054"/>
                </a:solidFill>
                <a:latin typeface="Tahoma"/>
                <a:cs typeface="Tahoma"/>
              </a:rPr>
              <a:t>secondary archive</a:t>
            </a:r>
            <a:r>
              <a:rPr sz="1600" spc="7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334054"/>
                </a:solidFill>
                <a:latin typeface="Tahoma"/>
                <a:cs typeface="Tahoma"/>
              </a:rPr>
              <a:t>storage</a:t>
            </a:r>
            <a:r>
              <a:rPr sz="1600" spc="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334054"/>
                </a:solidFill>
                <a:latin typeface="Tahoma"/>
                <a:cs typeface="Tahoma"/>
              </a:rPr>
              <a:t>for</a:t>
            </a:r>
            <a:r>
              <a:rPr sz="1600" spc="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334054"/>
                </a:solidFill>
                <a:latin typeface="Tahoma"/>
                <a:cs typeface="Tahoma"/>
              </a:rPr>
              <a:t>historical</a:t>
            </a:r>
            <a:r>
              <a:rPr sz="1600" spc="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334054"/>
                </a:solidFill>
                <a:latin typeface="Tahoma"/>
                <a:cs typeface="Tahoma"/>
              </a:rPr>
              <a:t>research.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495296" y="1563247"/>
            <a:ext cx="7200904" cy="639776"/>
          </a:xfrm>
          <a:prstGeom prst="rect">
            <a:avLst/>
          </a:prstGeom>
        </p:spPr>
        <p:txBody>
          <a:bodyPr vert="horz" wrap="square" lIns="0" tIns="244969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2550" spc="-90" dirty="0">
                <a:solidFill>
                  <a:srgbClr val="0E1729"/>
                </a:solidFill>
              </a:rPr>
              <a:t>Module</a:t>
            </a:r>
            <a:r>
              <a:rPr sz="2550" spc="-150" dirty="0">
                <a:solidFill>
                  <a:srgbClr val="0E1729"/>
                </a:solidFill>
              </a:rPr>
              <a:t> </a:t>
            </a:r>
            <a:r>
              <a:rPr sz="2550" spc="-254" dirty="0">
                <a:solidFill>
                  <a:srgbClr val="0E1729"/>
                </a:solidFill>
              </a:rPr>
              <a:t>5</a:t>
            </a:r>
            <a:r>
              <a:rPr sz="2550" spc="-150" dirty="0">
                <a:solidFill>
                  <a:srgbClr val="0E1729"/>
                </a:solidFill>
              </a:rPr>
              <a:t> </a:t>
            </a:r>
            <a:r>
              <a:rPr sz="2550" dirty="0">
                <a:solidFill>
                  <a:srgbClr val="0E1729"/>
                </a:solidFill>
              </a:rPr>
              <a:t>-</a:t>
            </a:r>
            <a:r>
              <a:rPr sz="2550" spc="-150" dirty="0">
                <a:solidFill>
                  <a:srgbClr val="0E1729"/>
                </a:solidFill>
              </a:rPr>
              <a:t> </a:t>
            </a:r>
            <a:r>
              <a:rPr sz="2550" spc="-125" dirty="0">
                <a:solidFill>
                  <a:srgbClr val="0E1729"/>
                </a:solidFill>
              </a:rPr>
              <a:t>Archiving</a:t>
            </a:r>
            <a:r>
              <a:rPr sz="2550" spc="-145" dirty="0">
                <a:solidFill>
                  <a:srgbClr val="0E1729"/>
                </a:solidFill>
              </a:rPr>
              <a:t> </a:t>
            </a:r>
            <a:r>
              <a:rPr sz="2550" spc="-365" dirty="0">
                <a:solidFill>
                  <a:srgbClr val="0E1729"/>
                </a:solidFill>
              </a:rPr>
              <a:t>&amp;</a:t>
            </a:r>
            <a:r>
              <a:rPr sz="2550" spc="-150" dirty="0">
                <a:solidFill>
                  <a:srgbClr val="0E1729"/>
                </a:solidFill>
              </a:rPr>
              <a:t> </a:t>
            </a:r>
            <a:r>
              <a:rPr sz="2550" spc="-114" dirty="0">
                <a:solidFill>
                  <a:srgbClr val="0E1729"/>
                </a:solidFill>
              </a:rPr>
              <a:t>Document</a:t>
            </a:r>
            <a:r>
              <a:rPr sz="2550" spc="-150" dirty="0">
                <a:solidFill>
                  <a:srgbClr val="0E1729"/>
                </a:solidFill>
              </a:rPr>
              <a:t> </a:t>
            </a:r>
            <a:r>
              <a:rPr sz="2550" spc="-40" dirty="0">
                <a:solidFill>
                  <a:srgbClr val="0E1729"/>
                </a:solidFill>
              </a:rPr>
              <a:t>Control</a:t>
            </a:r>
            <a:endParaRPr sz="2550" dirty="0"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2190657" cy="10589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490D43-88CD-7892-57CC-5E77B80EE3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328" y="2585782"/>
            <a:ext cx="6096672" cy="40436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00"/>
              </a:spcBef>
            </a:pPr>
            <a:r>
              <a:rPr sz="2550" spc="-90" dirty="0">
                <a:solidFill>
                  <a:srgbClr val="0E1729"/>
                </a:solidFill>
              </a:rPr>
              <a:t>Module</a:t>
            </a:r>
            <a:r>
              <a:rPr sz="2550" spc="-145" dirty="0">
                <a:solidFill>
                  <a:srgbClr val="0E1729"/>
                </a:solidFill>
              </a:rPr>
              <a:t> </a:t>
            </a:r>
            <a:r>
              <a:rPr sz="2550" spc="-254" dirty="0">
                <a:solidFill>
                  <a:srgbClr val="0E1729"/>
                </a:solidFill>
              </a:rPr>
              <a:t>6</a:t>
            </a:r>
            <a:r>
              <a:rPr sz="2550" spc="-145" dirty="0">
                <a:solidFill>
                  <a:srgbClr val="0E1729"/>
                </a:solidFill>
              </a:rPr>
              <a:t> </a:t>
            </a:r>
            <a:r>
              <a:rPr sz="2550" dirty="0">
                <a:solidFill>
                  <a:srgbClr val="0E1729"/>
                </a:solidFill>
              </a:rPr>
              <a:t>-</a:t>
            </a:r>
            <a:r>
              <a:rPr sz="2550" spc="-145" dirty="0">
                <a:solidFill>
                  <a:srgbClr val="0E1729"/>
                </a:solidFill>
              </a:rPr>
              <a:t> </a:t>
            </a:r>
            <a:r>
              <a:rPr sz="2550" spc="-95" dirty="0">
                <a:solidFill>
                  <a:srgbClr val="0E1729"/>
                </a:solidFill>
              </a:rPr>
              <a:t>Admin</a:t>
            </a:r>
            <a:r>
              <a:rPr sz="2550" spc="-140" dirty="0">
                <a:solidFill>
                  <a:srgbClr val="0E1729"/>
                </a:solidFill>
              </a:rPr>
              <a:t> </a:t>
            </a:r>
            <a:r>
              <a:rPr sz="2550" spc="-150" dirty="0">
                <a:solidFill>
                  <a:srgbClr val="0E1729"/>
                </a:solidFill>
              </a:rPr>
              <a:t>Analytics</a:t>
            </a:r>
            <a:r>
              <a:rPr sz="2550" spc="-145" dirty="0">
                <a:solidFill>
                  <a:srgbClr val="0E1729"/>
                </a:solidFill>
              </a:rPr>
              <a:t> </a:t>
            </a:r>
            <a:r>
              <a:rPr sz="2550" spc="-365" dirty="0">
                <a:solidFill>
                  <a:srgbClr val="0E1729"/>
                </a:solidFill>
              </a:rPr>
              <a:t>&amp;</a:t>
            </a:r>
            <a:r>
              <a:rPr sz="2550" spc="-145" dirty="0">
                <a:solidFill>
                  <a:srgbClr val="0E1729"/>
                </a:solidFill>
              </a:rPr>
              <a:t> </a:t>
            </a:r>
            <a:r>
              <a:rPr sz="2550" spc="-85" dirty="0">
                <a:solidFill>
                  <a:srgbClr val="0E1729"/>
                </a:solidFill>
              </a:rPr>
              <a:t>Metrics</a:t>
            </a:r>
            <a:endParaRPr sz="255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0657" cy="10589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2687" y="1943100"/>
            <a:ext cx="5357811" cy="4381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2971800"/>
            <a:ext cx="104774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4210051"/>
            <a:ext cx="152399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5048251"/>
            <a:ext cx="152399" cy="1333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20750" y="2759913"/>
            <a:ext cx="4585970" cy="3343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7175">
              <a:lnSpc>
                <a:spcPct val="150000"/>
              </a:lnSpc>
              <a:spcBef>
                <a:spcPts val="95"/>
              </a:spcBef>
            </a:pPr>
            <a:r>
              <a:rPr b="1" spc="-10" dirty="0">
                <a:solidFill>
                  <a:srgbClr val="334054"/>
                </a:solidFill>
                <a:latin typeface="Tahoma"/>
                <a:cs typeface="Tahoma"/>
              </a:rPr>
              <a:t>Students:</a:t>
            </a:r>
            <a:r>
              <a:rPr b="1" spc="7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334054"/>
                </a:solidFill>
                <a:latin typeface="Tahoma"/>
                <a:cs typeface="Tahoma"/>
              </a:rPr>
              <a:t>Search</a:t>
            </a:r>
            <a:r>
              <a:rPr spc="5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catalog,</a:t>
            </a:r>
            <a:r>
              <a:rPr spc="5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334054"/>
                </a:solidFill>
                <a:latin typeface="Tahoma"/>
                <a:cs typeface="Tahoma"/>
              </a:rPr>
              <a:t>checkout</a:t>
            </a:r>
            <a:r>
              <a:rPr spc="5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0" dirty="0">
                <a:solidFill>
                  <a:srgbClr val="334054"/>
                </a:solidFill>
                <a:latin typeface="Tahoma"/>
                <a:cs typeface="Tahoma"/>
              </a:rPr>
              <a:t>eBooks,</a:t>
            </a:r>
            <a:r>
              <a:rPr spc="5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read</a:t>
            </a:r>
            <a:r>
              <a:rPr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334054"/>
                </a:solidFill>
                <a:latin typeface="Tahoma"/>
                <a:cs typeface="Tahoma"/>
              </a:rPr>
              <a:t>course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materials,</a:t>
            </a:r>
            <a:r>
              <a:rPr spc="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0" dirty="0">
                <a:solidFill>
                  <a:srgbClr val="334054"/>
                </a:solidFill>
                <a:latin typeface="Tahoma"/>
                <a:cs typeface="Tahoma"/>
              </a:rPr>
              <a:t>view</a:t>
            </a:r>
            <a:r>
              <a:rPr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334054"/>
                </a:solidFill>
                <a:latin typeface="Tahoma"/>
                <a:cs typeface="Tahoma"/>
              </a:rPr>
              <a:t>active</a:t>
            </a:r>
            <a:r>
              <a:rPr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0" dirty="0">
                <a:solidFill>
                  <a:srgbClr val="334054"/>
                </a:solidFill>
                <a:latin typeface="Tahoma"/>
                <a:cs typeface="Tahoma"/>
              </a:rPr>
              <a:t>due</a:t>
            </a:r>
            <a:r>
              <a:rPr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334054"/>
                </a:solidFill>
                <a:latin typeface="Tahoma"/>
                <a:cs typeface="Tahoma"/>
              </a:rPr>
              <a:t>dates.</a:t>
            </a:r>
            <a:endParaRPr dirty="0">
              <a:latin typeface="Tahoma"/>
              <a:cs typeface="Tahoma"/>
            </a:endParaRPr>
          </a:p>
          <a:p>
            <a:pPr marL="12700" marR="5080">
              <a:lnSpc>
                <a:spcPct val="150000"/>
              </a:lnSpc>
              <a:spcBef>
                <a:spcPts val="450"/>
              </a:spcBef>
            </a:pPr>
            <a:r>
              <a:rPr b="1" dirty="0">
                <a:solidFill>
                  <a:srgbClr val="334054"/>
                </a:solidFill>
                <a:latin typeface="Tahoma"/>
                <a:cs typeface="Tahoma"/>
              </a:rPr>
              <a:t>Faculty:</a:t>
            </a:r>
            <a:r>
              <a:rPr b="1" spc="10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334054"/>
                </a:solidFill>
                <a:latin typeface="Tahoma"/>
                <a:cs typeface="Tahoma"/>
              </a:rPr>
              <a:t>Recommend</a:t>
            </a:r>
            <a:r>
              <a:rPr spc="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reading</a:t>
            </a:r>
            <a:r>
              <a:rPr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lists,</a:t>
            </a:r>
            <a:r>
              <a:rPr spc="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334054"/>
                </a:solidFill>
                <a:latin typeface="Tahoma"/>
                <a:cs typeface="Tahoma"/>
              </a:rPr>
              <a:t>reserve</a:t>
            </a:r>
            <a:r>
              <a:rPr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digital</a:t>
            </a:r>
            <a:r>
              <a:rPr spc="7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334054"/>
                </a:solidFill>
                <a:latin typeface="Tahoma"/>
                <a:cs typeface="Tahoma"/>
              </a:rPr>
              <a:t>textbooks,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request</a:t>
            </a:r>
            <a:r>
              <a:rPr spc="1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334054"/>
                </a:solidFill>
                <a:latin typeface="Tahoma"/>
                <a:cs typeface="Tahoma"/>
              </a:rPr>
              <a:t>custom</a:t>
            </a:r>
            <a:r>
              <a:rPr spc="12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334054"/>
                </a:solidFill>
                <a:latin typeface="Tahoma"/>
                <a:cs typeface="Tahoma"/>
              </a:rPr>
              <a:t>archives.</a:t>
            </a:r>
            <a:endParaRPr dirty="0">
              <a:latin typeface="Tahoma"/>
              <a:cs typeface="Tahoma"/>
            </a:endParaRPr>
          </a:p>
          <a:p>
            <a:pPr marL="12700" marR="211454">
              <a:lnSpc>
                <a:spcPct val="150000"/>
              </a:lnSpc>
            </a:pPr>
            <a:r>
              <a:rPr b="1" spc="-25" dirty="0">
                <a:solidFill>
                  <a:srgbClr val="334054"/>
                </a:solidFill>
                <a:latin typeface="Tahoma"/>
                <a:cs typeface="Tahoma"/>
              </a:rPr>
              <a:t>Librarian</a:t>
            </a:r>
            <a:r>
              <a:rPr b="1" spc="-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b="1" spc="-245" dirty="0">
                <a:solidFill>
                  <a:srgbClr val="334054"/>
                </a:solidFill>
                <a:latin typeface="Tahoma"/>
                <a:cs typeface="Tahoma"/>
              </a:rPr>
              <a:t>/</a:t>
            </a:r>
            <a:r>
              <a:rPr b="1" spc="-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b="1" dirty="0">
                <a:solidFill>
                  <a:srgbClr val="334054"/>
                </a:solidFill>
                <a:latin typeface="Tahoma"/>
                <a:cs typeface="Tahoma"/>
              </a:rPr>
              <a:t>Admin:</a:t>
            </a:r>
            <a:r>
              <a:rPr b="1"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334054"/>
                </a:solidFill>
                <a:latin typeface="Tahoma"/>
                <a:cs typeface="Tahoma"/>
              </a:rPr>
              <a:t>Add/modify</a:t>
            </a:r>
            <a:r>
              <a:rPr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334054"/>
                </a:solidFill>
                <a:latin typeface="Tahoma"/>
                <a:cs typeface="Tahoma"/>
              </a:rPr>
              <a:t>catalog</a:t>
            </a:r>
            <a:r>
              <a:rPr spc="2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inventory,</a:t>
            </a:r>
            <a:r>
              <a:rPr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334054"/>
                </a:solidFill>
                <a:latin typeface="Tahoma"/>
                <a:cs typeface="Tahoma"/>
              </a:rPr>
              <a:t>manage </a:t>
            </a:r>
            <a:r>
              <a:rPr spc="50" dirty="0">
                <a:solidFill>
                  <a:srgbClr val="334054"/>
                </a:solidFill>
                <a:latin typeface="Tahoma"/>
                <a:cs typeface="Tahoma"/>
              </a:rPr>
              <a:t>member</a:t>
            </a:r>
            <a:r>
              <a:rPr spc="10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334054"/>
                </a:solidFill>
                <a:latin typeface="Tahoma"/>
                <a:cs typeface="Tahoma"/>
              </a:rPr>
              <a:t>privileges,</a:t>
            </a:r>
            <a:r>
              <a:rPr spc="11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334054"/>
                </a:solidFill>
                <a:latin typeface="Tahoma"/>
                <a:cs typeface="Tahoma"/>
              </a:rPr>
              <a:t>extract</a:t>
            </a:r>
            <a:r>
              <a:rPr spc="11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0" dirty="0">
                <a:solidFill>
                  <a:srgbClr val="334054"/>
                </a:solidFill>
                <a:latin typeface="Tahoma"/>
                <a:cs typeface="Tahoma"/>
              </a:rPr>
              <a:t>system</a:t>
            </a:r>
            <a:r>
              <a:rPr spc="11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334054"/>
                </a:solidFill>
                <a:latin typeface="Tahoma"/>
                <a:cs typeface="Tahoma"/>
              </a:rPr>
              <a:t>logs.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6517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100"/>
              </a:spcBef>
            </a:pPr>
            <a:r>
              <a:rPr sz="2550" spc="-235" dirty="0">
                <a:solidFill>
                  <a:srgbClr val="0E1729"/>
                </a:solidFill>
              </a:rPr>
              <a:t>Use</a:t>
            </a:r>
            <a:r>
              <a:rPr sz="2550" spc="-135" dirty="0">
                <a:solidFill>
                  <a:srgbClr val="0E1729"/>
                </a:solidFill>
              </a:rPr>
              <a:t> </a:t>
            </a:r>
            <a:r>
              <a:rPr sz="2550" spc="-254" dirty="0">
                <a:solidFill>
                  <a:srgbClr val="0E1729"/>
                </a:solidFill>
              </a:rPr>
              <a:t>Case</a:t>
            </a:r>
            <a:r>
              <a:rPr sz="2550" spc="-140" dirty="0">
                <a:solidFill>
                  <a:srgbClr val="0E1729"/>
                </a:solidFill>
              </a:rPr>
              <a:t> </a:t>
            </a:r>
            <a:r>
              <a:rPr sz="2550" spc="-365" dirty="0">
                <a:solidFill>
                  <a:srgbClr val="0E1729"/>
                </a:solidFill>
              </a:rPr>
              <a:t>&amp;</a:t>
            </a:r>
            <a:r>
              <a:rPr sz="2550" spc="-135" dirty="0">
                <a:solidFill>
                  <a:srgbClr val="0E1729"/>
                </a:solidFill>
              </a:rPr>
              <a:t> </a:t>
            </a:r>
            <a:r>
              <a:rPr sz="2550" spc="-185" dirty="0">
                <a:solidFill>
                  <a:srgbClr val="0E1729"/>
                </a:solidFill>
              </a:rPr>
              <a:t>System</a:t>
            </a:r>
            <a:r>
              <a:rPr sz="2550" spc="-140" dirty="0">
                <a:solidFill>
                  <a:srgbClr val="0E1729"/>
                </a:solidFill>
              </a:rPr>
              <a:t> </a:t>
            </a:r>
            <a:r>
              <a:rPr sz="2550" spc="-80" dirty="0">
                <a:solidFill>
                  <a:srgbClr val="0E1729"/>
                </a:solidFill>
              </a:rPr>
              <a:t>Interaction</a:t>
            </a:r>
            <a:endParaRPr sz="2550" dirty="0"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2190657" cy="10589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278" y="2501722"/>
            <a:ext cx="9944099" cy="571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0648" y="3200400"/>
            <a:ext cx="1689100" cy="1915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2430">
              <a:lnSpc>
                <a:spcPct val="100000"/>
              </a:lnSpc>
              <a:spcBef>
                <a:spcPts val="100"/>
              </a:spcBef>
            </a:pPr>
            <a:r>
              <a:rPr sz="1600" spc="-75" dirty="0">
                <a:solidFill>
                  <a:srgbClr val="0E1729"/>
                </a:solidFill>
                <a:latin typeface="Arial Black"/>
                <a:cs typeface="Arial Black"/>
              </a:rPr>
              <a:t>Login</a:t>
            </a:r>
            <a:r>
              <a:rPr sz="1600" spc="-6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600" spc="-170" dirty="0">
                <a:solidFill>
                  <a:srgbClr val="0E1729"/>
                </a:solidFill>
                <a:latin typeface="Arial Black"/>
                <a:cs typeface="Arial Black"/>
              </a:rPr>
              <a:t>&amp;</a:t>
            </a:r>
            <a:r>
              <a:rPr sz="1600" spc="-6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1600" spc="-20" dirty="0">
                <a:solidFill>
                  <a:srgbClr val="0E1729"/>
                </a:solidFill>
                <a:latin typeface="Arial Black"/>
                <a:cs typeface="Arial Black"/>
              </a:rPr>
              <a:t>Auth</a:t>
            </a:r>
            <a:endParaRPr sz="1600" dirty="0">
              <a:latin typeface="Arial Black"/>
              <a:cs typeface="Arial Black"/>
            </a:endParaRPr>
          </a:p>
          <a:p>
            <a:pPr marL="259079" marR="5080" indent="-247015">
              <a:lnSpc>
                <a:spcPct val="143600"/>
              </a:lnSpc>
              <a:spcBef>
                <a:spcPts val="305"/>
              </a:spcBef>
            </a:pPr>
            <a:r>
              <a:rPr sz="1600" spc="60" dirty="0">
                <a:solidFill>
                  <a:srgbClr val="64738B"/>
                </a:solidFill>
                <a:latin typeface="Tahoma"/>
                <a:cs typeface="Tahoma"/>
              </a:rPr>
              <a:t>User</a:t>
            </a:r>
            <a:r>
              <a:rPr sz="16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64738B"/>
                </a:solidFill>
                <a:latin typeface="Tahoma"/>
                <a:cs typeface="Tahoma"/>
              </a:rPr>
              <a:t>logs</a:t>
            </a:r>
            <a:r>
              <a:rPr sz="1600" dirty="0">
                <a:solidFill>
                  <a:srgbClr val="64738B"/>
                </a:solidFill>
                <a:latin typeface="Tahoma"/>
                <a:cs typeface="Tahoma"/>
              </a:rPr>
              <a:t> in</a:t>
            </a:r>
            <a:r>
              <a:rPr sz="1600" spc="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64738B"/>
                </a:solidFill>
                <a:latin typeface="Tahoma"/>
                <a:cs typeface="Tahoma"/>
              </a:rPr>
              <a:t>with </a:t>
            </a:r>
            <a:r>
              <a:rPr sz="1600" spc="60" dirty="0">
                <a:solidFill>
                  <a:srgbClr val="64738B"/>
                </a:solidFill>
                <a:latin typeface="Tahoma"/>
                <a:cs typeface="Tahoma"/>
              </a:rPr>
              <a:t>User</a:t>
            </a:r>
            <a:r>
              <a:rPr sz="16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64738B"/>
                </a:solidFill>
                <a:latin typeface="Tahoma"/>
                <a:cs typeface="Tahoma"/>
              </a:rPr>
              <a:t>ID</a:t>
            </a:r>
            <a:r>
              <a:rPr sz="1600" spc="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64738B"/>
                </a:solidFill>
                <a:latin typeface="Tahoma"/>
                <a:cs typeface="Tahoma"/>
              </a:rPr>
              <a:t>and </a:t>
            </a:r>
            <a:r>
              <a:rPr sz="1600" spc="55" dirty="0">
                <a:solidFill>
                  <a:srgbClr val="64738B"/>
                </a:solidFill>
                <a:latin typeface="Tahoma"/>
                <a:cs typeface="Tahoma"/>
              </a:rPr>
              <a:t>password</a:t>
            </a:r>
            <a:r>
              <a:rPr sz="16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64738B"/>
                </a:solidFill>
                <a:latin typeface="Tahoma"/>
                <a:cs typeface="Tahoma"/>
              </a:rPr>
              <a:t>validation</a:t>
            </a:r>
            <a:r>
              <a:rPr sz="950" spc="-10" dirty="0">
                <a:solidFill>
                  <a:srgbClr val="64738B"/>
                </a:solidFill>
                <a:latin typeface="Tahoma"/>
                <a:cs typeface="Tahoma"/>
              </a:rPr>
              <a:t>.</a:t>
            </a:r>
            <a:endParaRPr sz="95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08621" y="3200400"/>
            <a:ext cx="1925955" cy="1472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100"/>
              </a:spcBef>
            </a:pPr>
            <a:r>
              <a:rPr spc="-110" dirty="0">
                <a:solidFill>
                  <a:srgbClr val="0E1729"/>
                </a:solidFill>
                <a:latin typeface="Arial Black"/>
                <a:cs typeface="Arial Black"/>
              </a:rPr>
              <a:t>OPAC</a:t>
            </a:r>
            <a:r>
              <a:rPr spc="-7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pc="-10" dirty="0">
                <a:solidFill>
                  <a:srgbClr val="0E1729"/>
                </a:solidFill>
                <a:latin typeface="Arial Black"/>
                <a:cs typeface="Arial Black"/>
              </a:rPr>
              <a:t>Search</a:t>
            </a:r>
            <a:endParaRPr dirty="0">
              <a:latin typeface="Arial Black"/>
              <a:cs typeface="Arial Black"/>
            </a:endParaRPr>
          </a:p>
          <a:p>
            <a:pPr marL="12700" marR="5080" algn="ctr">
              <a:lnSpc>
                <a:spcPct val="143600"/>
              </a:lnSpc>
              <a:spcBef>
                <a:spcPts val="305"/>
              </a:spcBef>
            </a:pPr>
            <a:r>
              <a:rPr dirty="0">
                <a:solidFill>
                  <a:srgbClr val="64738B"/>
                </a:solidFill>
                <a:latin typeface="Tahoma"/>
                <a:cs typeface="Tahoma"/>
              </a:rPr>
              <a:t>Query</a:t>
            </a:r>
            <a:r>
              <a:rPr spc="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64738B"/>
                </a:solidFill>
                <a:latin typeface="Tahoma"/>
                <a:cs typeface="Tahoma"/>
              </a:rPr>
              <a:t>resources</a:t>
            </a:r>
            <a:r>
              <a:rPr spc="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60" dirty="0">
                <a:solidFill>
                  <a:srgbClr val="64738B"/>
                </a:solidFill>
                <a:latin typeface="Tahoma"/>
                <a:cs typeface="Tahoma"/>
              </a:rPr>
              <a:t>by</a:t>
            </a:r>
            <a:r>
              <a:rPr spc="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64738B"/>
                </a:solidFill>
                <a:latin typeface="Tahoma"/>
                <a:cs typeface="Tahoma"/>
              </a:rPr>
              <a:t>title,</a:t>
            </a:r>
            <a:r>
              <a:rPr spc="5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64738B"/>
                </a:solidFill>
                <a:latin typeface="Tahoma"/>
                <a:cs typeface="Tahoma"/>
              </a:rPr>
              <a:t>subject, </a:t>
            </a:r>
            <a:r>
              <a:rPr dirty="0">
                <a:solidFill>
                  <a:srgbClr val="64738B"/>
                </a:solidFill>
                <a:latin typeface="Tahoma"/>
                <a:cs typeface="Tahoma"/>
              </a:rPr>
              <a:t>or</a:t>
            </a:r>
            <a:r>
              <a:rPr spc="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64738B"/>
                </a:solidFill>
                <a:latin typeface="Tahoma"/>
                <a:cs typeface="Tahoma"/>
              </a:rPr>
              <a:t>ISBN</a:t>
            </a:r>
            <a:r>
              <a:rPr spc="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-20" dirty="0">
                <a:solidFill>
                  <a:srgbClr val="64738B"/>
                </a:solidFill>
                <a:latin typeface="Tahoma"/>
                <a:cs typeface="Tahoma"/>
              </a:rPr>
              <a:t>tag.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6639" y="3200399"/>
            <a:ext cx="1857375" cy="1472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 algn="ctr">
              <a:lnSpc>
                <a:spcPct val="100000"/>
              </a:lnSpc>
              <a:spcBef>
                <a:spcPts val="100"/>
              </a:spcBef>
            </a:pPr>
            <a:r>
              <a:rPr spc="-100" dirty="0">
                <a:solidFill>
                  <a:srgbClr val="0E1729"/>
                </a:solidFill>
                <a:latin typeface="Arial Black"/>
                <a:cs typeface="Arial Black"/>
              </a:rPr>
              <a:t>License</a:t>
            </a:r>
            <a:r>
              <a:rPr spc="-5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pc="-20" dirty="0">
                <a:solidFill>
                  <a:srgbClr val="0E1729"/>
                </a:solidFill>
                <a:latin typeface="Arial Black"/>
                <a:cs typeface="Arial Black"/>
              </a:rPr>
              <a:t>Check</a:t>
            </a:r>
            <a:endParaRPr dirty="0">
              <a:latin typeface="Arial Black"/>
              <a:cs typeface="Arial Black"/>
            </a:endParaRPr>
          </a:p>
          <a:p>
            <a:pPr marL="12065" marR="5080" algn="ctr">
              <a:lnSpc>
                <a:spcPct val="143600"/>
              </a:lnSpc>
              <a:spcBef>
                <a:spcPts val="305"/>
              </a:spcBef>
            </a:pPr>
            <a:r>
              <a:rPr spc="55" dirty="0">
                <a:solidFill>
                  <a:srgbClr val="64738B"/>
                </a:solidFill>
                <a:latin typeface="Tahoma"/>
                <a:cs typeface="Tahoma"/>
              </a:rPr>
              <a:t>System</a:t>
            </a:r>
            <a:r>
              <a:rPr spc="12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64738B"/>
                </a:solidFill>
                <a:latin typeface="Tahoma"/>
                <a:cs typeface="Tahoma"/>
              </a:rPr>
              <a:t>verifies</a:t>
            </a:r>
            <a:r>
              <a:rPr spc="12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64738B"/>
                </a:solidFill>
                <a:latin typeface="Tahoma"/>
                <a:cs typeface="Tahoma"/>
              </a:rPr>
              <a:t>active</a:t>
            </a:r>
            <a:r>
              <a:rPr spc="12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64738B"/>
                </a:solidFill>
                <a:latin typeface="Tahoma"/>
                <a:cs typeface="Tahoma"/>
              </a:rPr>
              <a:t>checkout </a:t>
            </a:r>
            <a:r>
              <a:rPr spc="10" dirty="0">
                <a:solidFill>
                  <a:srgbClr val="64738B"/>
                </a:solidFill>
                <a:latin typeface="Tahoma"/>
                <a:cs typeface="Tahoma"/>
              </a:rPr>
              <a:t>availabilit</a:t>
            </a:r>
            <a:r>
              <a:rPr spc="1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-25" dirty="0">
                <a:solidFill>
                  <a:srgbClr val="64738B"/>
                </a:solidFill>
                <a:latin typeface="Tahoma"/>
                <a:cs typeface="Tahoma"/>
              </a:rPr>
              <a:t>y.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01646" y="3207893"/>
            <a:ext cx="1857375" cy="21486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" algn="ctr">
              <a:lnSpc>
                <a:spcPct val="100000"/>
              </a:lnSpc>
              <a:spcBef>
                <a:spcPts val="100"/>
              </a:spcBef>
            </a:pPr>
            <a:r>
              <a:rPr spc="-80" dirty="0">
                <a:solidFill>
                  <a:srgbClr val="0E1729"/>
                </a:solidFill>
                <a:latin typeface="Arial Black"/>
                <a:cs typeface="Arial Black"/>
              </a:rPr>
              <a:t>Checkout</a:t>
            </a:r>
            <a:r>
              <a:rPr spc="-5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pc="155" dirty="0">
                <a:solidFill>
                  <a:srgbClr val="0E1729"/>
                </a:solidFill>
                <a:latin typeface="Arial Black"/>
                <a:cs typeface="Arial Black"/>
              </a:rPr>
              <a:t>/</a:t>
            </a:r>
            <a:r>
              <a:rPr spc="-5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pc="-20" dirty="0">
                <a:solidFill>
                  <a:srgbClr val="0E1729"/>
                </a:solidFill>
                <a:latin typeface="Arial Black"/>
                <a:cs typeface="Arial Black"/>
              </a:rPr>
              <a:t>Issue</a:t>
            </a:r>
            <a:endParaRPr dirty="0">
              <a:latin typeface="Arial Black"/>
              <a:cs typeface="Arial Black"/>
            </a:endParaRPr>
          </a:p>
          <a:p>
            <a:pPr marL="12065" marR="5080" algn="ctr">
              <a:lnSpc>
                <a:spcPct val="143600"/>
              </a:lnSpc>
              <a:spcBef>
                <a:spcPts val="305"/>
              </a:spcBef>
            </a:pPr>
            <a:r>
              <a:rPr dirty="0">
                <a:solidFill>
                  <a:srgbClr val="64738B"/>
                </a:solidFill>
                <a:latin typeface="Tahoma"/>
                <a:cs typeface="Tahoma"/>
              </a:rPr>
              <a:t>Digital</a:t>
            </a:r>
            <a:r>
              <a:rPr spc="7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70" dirty="0">
                <a:solidFill>
                  <a:srgbClr val="64738B"/>
                </a:solidFill>
                <a:latin typeface="Tahoma"/>
                <a:cs typeface="Tahoma"/>
              </a:rPr>
              <a:t>copy</a:t>
            </a:r>
            <a:r>
              <a:rPr spc="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64738B"/>
                </a:solidFill>
                <a:latin typeface="Tahoma"/>
                <a:cs typeface="Tahoma"/>
              </a:rPr>
              <a:t>granted</a:t>
            </a:r>
            <a:r>
              <a:rPr spc="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64738B"/>
                </a:solidFill>
                <a:latin typeface="Tahoma"/>
                <a:cs typeface="Tahoma"/>
              </a:rPr>
              <a:t>&amp;</a:t>
            </a:r>
            <a:r>
              <a:rPr spc="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40" dirty="0">
                <a:solidFill>
                  <a:srgbClr val="64738B"/>
                </a:solidFill>
                <a:latin typeface="Tahoma"/>
                <a:cs typeface="Tahoma"/>
              </a:rPr>
              <a:t>issue </a:t>
            </a:r>
            <a:r>
              <a:rPr spc="20" dirty="0">
                <a:solidFill>
                  <a:srgbClr val="64738B"/>
                </a:solidFill>
                <a:latin typeface="Tahoma"/>
                <a:cs typeface="Tahoma"/>
              </a:rPr>
              <a:t>transaction</a:t>
            </a:r>
            <a:r>
              <a:rPr spc="16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64738B"/>
                </a:solidFill>
                <a:latin typeface="Tahoma"/>
                <a:cs typeface="Tahoma"/>
              </a:rPr>
              <a:t>logged.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82200" y="3179750"/>
            <a:ext cx="1555115" cy="21486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0E1729"/>
                </a:solidFill>
                <a:latin typeface="Arial Black"/>
                <a:cs typeface="Arial Black"/>
              </a:rPr>
              <a:t>Return</a:t>
            </a:r>
            <a:r>
              <a:rPr spc="-6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pc="-170" dirty="0">
                <a:solidFill>
                  <a:srgbClr val="0E1729"/>
                </a:solidFill>
                <a:latin typeface="Arial Black"/>
                <a:cs typeface="Arial Black"/>
              </a:rPr>
              <a:t>&amp;</a:t>
            </a:r>
            <a:r>
              <a:rPr spc="-60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pc="-10" dirty="0">
                <a:solidFill>
                  <a:srgbClr val="0E1729"/>
                </a:solidFill>
                <a:latin typeface="Arial Black"/>
                <a:cs typeface="Arial Black"/>
              </a:rPr>
              <a:t>Report</a:t>
            </a:r>
            <a:endParaRPr dirty="0">
              <a:latin typeface="Arial Black"/>
              <a:cs typeface="Arial Black"/>
            </a:endParaRPr>
          </a:p>
          <a:p>
            <a:pPr marL="12700" marR="5080" indent="155575">
              <a:lnSpc>
                <a:spcPct val="143600"/>
              </a:lnSpc>
              <a:spcBef>
                <a:spcPts val="305"/>
              </a:spcBef>
            </a:pPr>
            <a:r>
              <a:rPr spc="55" dirty="0">
                <a:solidFill>
                  <a:srgbClr val="64738B"/>
                </a:solidFill>
                <a:latin typeface="Tahoma"/>
                <a:cs typeface="Tahoma"/>
              </a:rPr>
              <a:t>Resource</a:t>
            </a:r>
            <a:r>
              <a:rPr spc="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64738B"/>
                </a:solidFill>
                <a:latin typeface="Tahoma"/>
                <a:cs typeface="Tahoma"/>
              </a:rPr>
              <a:t>returned</a:t>
            </a:r>
            <a:r>
              <a:rPr spc="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-25" dirty="0">
                <a:solidFill>
                  <a:srgbClr val="64738B"/>
                </a:solidFill>
                <a:latin typeface="Tahoma"/>
                <a:cs typeface="Tahoma"/>
              </a:rPr>
              <a:t>or </a:t>
            </a:r>
            <a:r>
              <a:rPr spc="10" dirty="0">
                <a:solidFill>
                  <a:srgbClr val="64738B"/>
                </a:solidFill>
                <a:latin typeface="Tahoma"/>
                <a:cs typeface="Tahoma"/>
              </a:rPr>
              <a:t>auto-expired;</a:t>
            </a:r>
            <a:r>
              <a:rPr spc="18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64738B"/>
                </a:solidFill>
                <a:latin typeface="Tahoma"/>
                <a:cs typeface="Tahoma"/>
              </a:rPr>
              <a:t>log</a:t>
            </a:r>
            <a:r>
              <a:rPr spc="18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64738B"/>
                </a:solidFill>
                <a:latin typeface="Tahoma"/>
                <a:cs typeface="Tahoma"/>
              </a:rPr>
              <a:t>updated.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33400" y="1740967"/>
            <a:ext cx="2875915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185" dirty="0">
                <a:solidFill>
                  <a:srgbClr val="0E1729"/>
                </a:solidFill>
              </a:rPr>
              <a:t>System</a:t>
            </a:r>
            <a:r>
              <a:rPr sz="2550" spc="-125" dirty="0">
                <a:solidFill>
                  <a:srgbClr val="0E1729"/>
                </a:solidFill>
              </a:rPr>
              <a:t> </a:t>
            </a:r>
            <a:r>
              <a:rPr sz="2550" spc="-60" dirty="0">
                <a:solidFill>
                  <a:srgbClr val="0E1729"/>
                </a:solidFill>
              </a:rPr>
              <a:t>Workﬂow</a:t>
            </a:r>
            <a:endParaRPr sz="2550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0657" cy="10589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636042"/>
            <a:ext cx="3524249" cy="39667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3875" y="2636042"/>
            <a:ext cx="7285415" cy="39667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9150" y="2931318"/>
            <a:ext cx="495299" cy="495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81525" y="2931318"/>
            <a:ext cx="495299" cy="495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43900" y="2931318"/>
            <a:ext cx="495299" cy="495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2025" y="3074193"/>
            <a:ext cx="209549" cy="2095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48212" y="3074193"/>
            <a:ext cx="161924" cy="2093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72487" y="3074193"/>
            <a:ext cx="238124" cy="2095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06449" y="3571938"/>
            <a:ext cx="2854960" cy="21198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solidFill>
                  <a:srgbClr val="0E1729"/>
                </a:solidFill>
                <a:latin typeface="Arial Black"/>
                <a:cs typeface="Arial Black"/>
              </a:rPr>
              <a:t>OOP</a:t>
            </a:r>
            <a:r>
              <a:rPr sz="2000" spc="-6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0E1729"/>
                </a:solidFill>
                <a:latin typeface="Arial Black"/>
                <a:cs typeface="Arial Black"/>
              </a:rPr>
              <a:t>Principles</a:t>
            </a:r>
            <a:endParaRPr sz="2000" dirty="0">
              <a:latin typeface="Arial Black"/>
              <a:cs typeface="Arial Black"/>
            </a:endParaRPr>
          </a:p>
          <a:p>
            <a:pPr marL="12700" marR="5080">
              <a:lnSpc>
                <a:spcPct val="147700"/>
              </a:lnSpc>
              <a:spcBef>
                <a:spcPts val="300"/>
              </a:spcBef>
            </a:pPr>
            <a:r>
              <a:rPr sz="2000" spc="40" dirty="0">
                <a:solidFill>
                  <a:srgbClr val="64738B"/>
                </a:solidFill>
                <a:latin typeface="Tahoma"/>
                <a:cs typeface="Tahoma"/>
              </a:rPr>
              <a:t>UtilizesClasses,Inheritance,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Encapsulation,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sz="20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64738B"/>
                </a:solidFill>
                <a:latin typeface="Tahoma"/>
                <a:cs typeface="Tahoma"/>
              </a:rPr>
              <a:t>Polymorphism</a:t>
            </a:r>
            <a:r>
              <a:rPr sz="20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for</a:t>
            </a:r>
            <a:r>
              <a:rPr sz="20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64738B"/>
                </a:solidFill>
                <a:latin typeface="Tahoma"/>
                <a:cs typeface="Tahoma"/>
              </a:rPr>
              <a:t>clean</a:t>
            </a:r>
            <a:r>
              <a:rPr sz="20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separation</a:t>
            </a:r>
            <a:r>
              <a:rPr sz="2000" spc="7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25" dirty="0">
                <a:solidFill>
                  <a:srgbClr val="64738B"/>
                </a:solidFill>
                <a:latin typeface="Tahoma"/>
                <a:cs typeface="Tahoma"/>
              </a:rPr>
              <a:t>of </a:t>
            </a:r>
            <a:r>
              <a:rPr sz="2000" spc="45" dirty="0">
                <a:solidFill>
                  <a:srgbClr val="64738B"/>
                </a:solidFill>
                <a:latin typeface="Tahoma"/>
                <a:cs typeface="Tahoma"/>
              </a:rPr>
              <a:t>concerns.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68825" y="3571938"/>
            <a:ext cx="2480945" cy="30308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00" spc="-90" dirty="0">
                <a:solidFill>
                  <a:srgbClr val="0E1729"/>
                </a:solidFill>
                <a:latin typeface="Arial Black"/>
                <a:cs typeface="Arial Black"/>
              </a:rPr>
              <a:t>File </a:t>
            </a:r>
            <a:r>
              <a:rPr sz="2000" spc="-10" dirty="0">
                <a:solidFill>
                  <a:srgbClr val="0E1729"/>
                </a:solidFill>
                <a:latin typeface="Arial Black"/>
                <a:cs typeface="Arial Black"/>
              </a:rPr>
              <a:t>Handling</a:t>
            </a:r>
            <a:endParaRPr sz="2000" dirty="0">
              <a:latin typeface="Arial Black"/>
              <a:cs typeface="Arial Black"/>
            </a:endParaRPr>
          </a:p>
          <a:p>
            <a:pPr marL="12700" marR="5080" algn="just">
              <a:lnSpc>
                <a:spcPct val="147700"/>
              </a:lnSpc>
              <a:spcBef>
                <a:spcPts val="300"/>
              </a:spcBef>
            </a:pP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Uses`ifstream`and</a:t>
            </a:r>
            <a:r>
              <a:rPr sz="2000" spc="12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64738B"/>
                </a:solidFill>
                <a:latin typeface="Tahoma"/>
                <a:cs typeface="Tahoma"/>
              </a:rPr>
              <a:t>`</a:t>
            </a:r>
            <a:r>
              <a:rPr sz="2000" spc="-20" dirty="0" err="1">
                <a:solidFill>
                  <a:srgbClr val="64738B"/>
                </a:solidFill>
                <a:latin typeface="Tahoma"/>
                <a:cs typeface="Tahoma"/>
              </a:rPr>
              <a:t>ofstream`</a:t>
            </a:r>
            <a:r>
              <a:rPr sz="2000" spc="-10" dirty="0" err="1">
                <a:solidFill>
                  <a:srgbClr val="64738B"/>
                </a:solidFill>
                <a:latin typeface="Tahoma"/>
                <a:cs typeface="Tahoma"/>
              </a:rPr>
              <a:t>stream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objects</a:t>
            </a:r>
            <a:r>
              <a:rPr sz="2000" spc="1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for</a:t>
            </a:r>
            <a:r>
              <a:rPr sz="2000" spc="1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persistent</a:t>
            </a:r>
            <a:r>
              <a:rPr sz="2000" spc="1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20" dirty="0">
                <a:solidFill>
                  <a:srgbClr val="64738B"/>
                </a:solidFill>
                <a:latin typeface="Tahoma"/>
                <a:cs typeface="Tahoma"/>
              </a:rPr>
              <a:t>storage</a:t>
            </a:r>
            <a:r>
              <a:rPr sz="2000" spc="10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64738B"/>
                </a:solidFill>
                <a:latin typeface="Tahoma"/>
                <a:cs typeface="Tahoma"/>
              </a:rPr>
              <a:t>of</a:t>
            </a:r>
            <a:r>
              <a:rPr sz="2000" spc="10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64738B"/>
                </a:solidFill>
                <a:latin typeface="Tahoma"/>
                <a:cs typeface="Tahoma"/>
              </a:rPr>
              <a:t>user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profiles</a:t>
            </a:r>
            <a:r>
              <a:rPr sz="2000" spc="18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sz="2000" spc="18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catalog</a:t>
            </a:r>
            <a:r>
              <a:rPr sz="2000" spc="19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lists.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31200" y="3571938"/>
            <a:ext cx="2957195" cy="25882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000" spc="-220" dirty="0">
                <a:solidFill>
                  <a:srgbClr val="0E1729"/>
                </a:solidFill>
                <a:latin typeface="Arial Black"/>
                <a:cs typeface="Arial Black"/>
              </a:rPr>
              <a:t>STL</a:t>
            </a:r>
            <a:r>
              <a:rPr sz="2000" spc="-75" dirty="0">
                <a:solidFill>
                  <a:srgbClr val="0E1729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0E1729"/>
                </a:solidFill>
                <a:latin typeface="Arial Black"/>
                <a:cs typeface="Arial Black"/>
              </a:rPr>
              <a:t>Containers</a:t>
            </a:r>
            <a:endParaRPr sz="2000" dirty="0">
              <a:latin typeface="Arial Black"/>
              <a:cs typeface="Arial Black"/>
            </a:endParaRPr>
          </a:p>
          <a:p>
            <a:pPr marL="12700" marR="5080" algn="just">
              <a:lnSpc>
                <a:spcPct val="147700"/>
              </a:lnSpc>
              <a:spcBef>
                <a:spcPts val="370"/>
              </a:spcBef>
            </a:pP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Applies`std::vector`</a:t>
            </a:r>
            <a:r>
              <a:rPr sz="2000" spc="85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sz="2000" spc="9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standard</a:t>
            </a:r>
            <a:r>
              <a:rPr sz="2000" spc="9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algorithms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for</a:t>
            </a:r>
            <a:r>
              <a:rPr sz="2000" spc="114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55" dirty="0" err="1">
                <a:solidFill>
                  <a:srgbClr val="64738B"/>
                </a:solidFill>
                <a:latin typeface="Tahoma"/>
                <a:cs typeface="Tahoma"/>
              </a:rPr>
              <a:t>dynami</a:t>
            </a:r>
            <a:r>
              <a:rPr lang="en-IN" sz="2000" spc="55" dirty="0">
                <a:solidFill>
                  <a:srgbClr val="64738B"/>
                </a:solidFill>
                <a:latin typeface="Tahoma"/>
                <a:cs typeface="Tahoma"/>
              </a:rPr>
              <a:t>c-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memory</a:t>
            </a:r>
            <a:r>
              <a:rPr sz="2000" spc="114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allocation</a:t>
            </a:r>
            <a:r>
              <a:rPr sz="2000" spc="114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10" dirty="0">
                <a:solidFill>
                  <a:srgbClr val="64738B"/>
                </a:solidFill>
                <a:latin typeface="Tahoma"/>
                <a:cs typeface="Tahoma"/>
              </a:rPr>
              <a:t>and</a:t>
            </a:r>
            <a:r>
              <a:rPr sz="2000" spc="12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efficient </a:t>
            </a:r>
            <a:r>
              <a:rPr sz="2000" dirty="0">
                <a:solidFill>
                  <a:srgbClr val="64738B"/>
                </a:solidFill>
                <a:latin typeface="Tahoma"/>
                <a:cs typeface="Tahoma"/>
              </a:rPr>
              <a:t>data</a:t>
            </a:r>
            <a:r>
              <a:rPr sz="2000" spc="110" dirty="0">
                <a:solidFill>
                  <a:srgbClr val="64738B"/>
                </a:solidFill>
                <a:latin typeface="Tahoma"/>
                <a:cs typeface="Tahoma"/>
              </a:rPr>
              <a:t> </a:t>
            </a:r>
            <a:r>
              <a:rPr sz="2000" spc="-10" dirty="0">
                <a:solidFill>
                  <a:srgbClr val="64738B"/>
                </a:solidFill>
                <a:latin typeface="Tahoma"/>
                <a:cs typeface="Tahoma"/>
              </a:rPr>
              <a:t>sorting.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673099" y="1727069"/>
            <a:ext cx="5842635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275" dirty="0">
                <a:solidFill>
                  <a:srgbClr val="0E1729"/>
                </a:solidFill>
              </a:rPr>
              <a:t>C++</a:t>
            </a:r>
            <a:r>
              <a:rPr sz="2550" spc="-145" dirty="0">
                <a:solidFill>
                  <a:srgbClr val="0E1729"/>
                </a:solidFill>
              </a:rPr>
              <a:t> </a:t>
            </a:r>
            <a:r>
              <a:rPr sz="2550" spc="-105" dirty="0">
                <a:solidFill>
                  <a:srgbClr val="0E1729"/>
                </a:solidFill>
              </a:rPr>
              <a:t>Programming</a:t>
            </a:r>
            <a:r>
              <a:rPr sz="2550" spc="-140" dirty="0">
                <a:solidFill>
                  <a:srgbClr val="0E1729"/>
                </a:solidFill>
              </a:rPr>
              <a:t> </a:t>
            </a:r>
            <a:r>
              <a:rPr sz="2550" spc="-185" dirty="0">
                <a:solidFill>
                  <a:srgbClr val="0E1729"/>
                </a:solidFill>
              </a:rPr>
              <a:t>Concepts</a:t>
            </a:r>
            <a:r>
              <a:rPr sz="2550" spc="-140" dirty="0">
                <a:solidFill>
                  <a:srgbClr val="0E1729"/>
                </a:solidFill>
              </a:rPr>
              <a:t> </a:t>
            </a:r>
            <a:r>
              <a:rPr sz="2550" spc="-65" dirty="0">
                <a:solidFill>
                  <a:srgbClr val="0E1729"/>
                </a:solidFill>
              </a:rPr>
              <a:t>Applied</a:t>
            </a:r>
            <a:endParaRPr sz="2550"/>
          </a:p>
        </p:txBody>
      </p:sp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12190657" cy="10589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483643"/>
            <a:ext cx="2617737" cy="11715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1375" y="2483643"/>
            <a:ext cx="8237636" cy="11715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4114800"/>
            <a:ext cx="104774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4953000"/>
            <a:ext cx="123824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1500" y="5734051"/>
            <a:ext cx="123824" cy="133349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76079"/>
              </p:ext>
            </p:extLst>
          </p:nvPr>
        </p:nvGraphicFramePr>
        <p:xfrm>
          <a:off x="1331420" y="2717338"/>
          <a:ext cx="9879964" cy="7116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3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5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8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750">
                <a:tc>
                  <a:txBody>
                    <a:bodyPr/>
                    <a:lstStyle/>
                    <a:p>
                      <a:pPr marL="31750">
                        <a:lnSpc>
                          <a:spcPts val="3679"/>
                        </a:lnSpc>
                      </a:pPr>
                      <a:r>
                        <a:rPr sz="3150" spc="300" dirty="0">
                          <a:solidFill>
                            <a:srgbClr val="0183C7"/>
                          </a:solidFill>
                          <a:latin typeface="Calibri"/>
                          <a:cs typeface="Calibri"/>
                        </a:rPr>
                        <a:t>100%</a:t>
                      </a:r>
                      <a:endParaRPr lang="en-IN" sz="3150" spc="300" dirty="0">
                        <a:solidFill>
                          <a:srgbClr val="0183C7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 algn="ctr">
                        <a:lnSpc>
                          <a:spcPts val="3679"/>
                        </a:lnSpc>
                      </a:pPr>
                      <a:r>
                        <a:rPr sz="3150" spc="595" dirty="0">
                          <a:solidFill>
                            <a:srgbClr val="0183C7"/>
                          </a:solidFill>
                          <a:latin typeface="Calibri"/>
                          <a:cs typeface="Calibri"/>
                        </a:rPr>
                        <a:t>0ms</a:t>
                      </a:r>
                      <a:endParaRPr sz="315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ts val="3679"/>
                        </a:lnSpc>
                      </a:pPr>
                      <a:r>
                        <a:rPr sz="3150" spc="280" dirty="0">
                          <a:solidFill>
                            <a:srgbClr val="0183C7"/>
                          </a:solidFill>
                          <a:latin typeface="Calibri"/>
                          <a:cs typeface="Calibri"/>
                        </a:rPr>
                        <a:t>24/7</a:t>
                      </a:r>
                      <a:endParaRPr sz="31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2290" algn="ctr">
                        <a:lnSpc>
                          <a:spcPts val="3679"/>
                        </a:lnSpc>
                      </a:pPr>
                      <a:r>
                        <a:rPr sz="3150" spc="455" dirty="0">
                          <a:solidFill>
                            <a:srgbClr val="0183C7"/>
                          </a:solidFill>
                          <a:latin typeface="Calibri"/>
                          <a:cs typeface="Calibri"/>
                        </a:rPr>
                        <a:t>0$</a:t>
                      </a:r>
                      <a:endParaRPr sz="31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9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 algn="ctr">
                        <a:lnSpc>
                          <a:spcPts val="1270"/>
                        </a:lnSpc>
                        <a:spcBef>
                          <a:spcPts val="114"/>
                        </a:spcBef>
                      </a:pPr>
                      <a:r>
                        <a:rPr sz="1100" spc="-6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Instant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OPAC</a:t>
                      </a:r>
                      <a:r>
                        <a:rPr sz="1100" spc="-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Search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ts val="1270"/>
                        </a:lnSpc>
                        <a:spcBef>
                          <a:spcPts val="114"/>
                        </a:spcBef>
                      </a:pP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Resource</a:t>
                      </a:r>
                      <a:r>
                        <a:rPr sz="1100" spc="-7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Accessibility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 marL="549275" algn="ctr">
                        <a:lnSpc>
                          <a:spcPts val="1270"/>
                        </a:lnSpc>
                        <a:spcBef>
                          <a:spcPts val="114"/>
                        </a:spcBef>
                      </a:pP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Third-party </a:t>
                      </a:r>
                      <a:r>
                        <a:rPr sz="1100" spc="-25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100" spc="-3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solidFill>
                            <a:srgbClr val="465469"/>
                          </a:solidFill>
                          <a:latin typeface="Verdana"/>
                          <a:cs typeface="Verdana"/>
                        </a:rPr>
                        <a:t>Cost</a:t>
                      </a:r>
                      <a:endParaRPr sz="1100" dirty="0">
                        <a:latin typeface="Verdana"/>
                        <a:cs typeface="Verdana"/>
                      </a:endParaRPr>
                    </a:p>
                  </a:txBody>
                  <a:tcPr marL="0" marR="0" marT="1460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066800" y="3988398"/>
            <a:ext cx="6992620" cy="225766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-20" dirty="0">
                <a:solidFill>
                  <a:srgbClr val="334054"/>
                </a:solidFill>
                <a:latin typeface="Tahoma"/>
                <a:cs typeface="Tahoma"/>
              </a:rPr>
              <a:t>High</a:t>
            </a:r>
            <a:r>
              <a:rPr b="1" spc="-25" dirty="0">
                <a:solidFill>
                  <a:srgbClr val="334054"/>
                </a:solidFill>
                <a:latin typeface="Tahoma"/>
                <a:cs typeface="Tahoma"/>
              </a:rPr>
              <a:t> Operational </a:t>
            </a:r>
            <a:r>
              <a:rPr b="1" dirty="0">
                <a:solidFill>
                  <a:srgbClr val="334054"/>
                </a:solidFill>
                <a:latin typeface="Tahoma"/>
                <a:cs typeface="Tahoma"/>
              </a:rPr>
              <a:t>Speed:</a:t>
            </a:r>
            <a:r>
              <a:rPr b="1"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compilation</a:t>
            </a:r>
            <a:r>
              <a:rPr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334054"/>
                </a:solidFill>
                <a:latin typeface="Tahoma"/>
                <a:cs typeface="Tahoma"/>
              </a:rPr>
              <a:t>ensures</a:t>
            </a:r>
            <a:r>
              <a:rPr spc="1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334054"/>
                </a:solidFill>
                <a:latin typeface="Tahoma"/>
                <a:cs typeface="Tahoma"/>
              </a:rPr>
              <a:t>fast</a:t>
            </a:r>
            <a:r>
              <a:rPr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334054"/>
                </a:solidFill>
                <a:latin typeface="Tahoma"/>
                <a:cs typeface="Tahoma"/>
              </a:rPr>
              <a:t>execution</a:t>
            </a:r>
            <a:r>
              <a:rPr spc="1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334054"/>
                </a:solidFill>
                <a:latin typeface="Tahoma"/>
                <a:cs typeface="Tahoma"/>
              </a:rPr>
              <a:t>and</a:t>
            </a:r>
            <a:r>
              <a:rPr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334054"/>
                </a:solidFill>
                <a:latin typeface="Tahoma"/>
                <a:cs typeface="Tahoma"/>
              </a:rPr>
              <a:t>low</a:t>
            </a:r>
            <a:r>
              <a:rPr spc="1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334054"/>
                </a:solidFill>
                <a:latin typeface="Tahoma"/>
                <a:cs typeface="Tahoma"/>
              </a:rPr>
              <a:t>memory</a:t>
            </a:r>
            <a:r>
              <a:rPr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334054"/>
                </a:solidFill>
                <a:latin typeface="Tahoma"/>
                <a:cs typeface="Tahoma"/>
              </a:rPr>
              <a:t>footprint.</a:t>
            </a:r>
            <a:endParaRPr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b="1" dirty="0">
                <a:solidFill>
                  <a:srgbClr val="334054"/>
                </a:solidFill>
                <a:latin typeface="Tahoma"/>
                <a:cs typeface="Tahoma"/>
              </a:rPr>
              <a:t>Eco-Friendly</a:t>
            </a:r>
            <a:r>
              <a:rPr b="1" spc="-6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b="1" spc="-135" dirty="0">
                <a:solidFill>
                  <a:srgbClr val="334054"/>
                </a:solidFill>
                <a:latin typeface="Tahoma"/>
                <a:cs typeface="Tahoma"/>
              </a:rPr>
              <a:t>&amp;</a:t>
            </a:r>
            <a:r>
              <a:rPr b="1" spc="-6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b="1" spc="-10" dirty="0">
                <a:solidFill>
                  <a:srgbClr val="334054"/>
                </a:solidFill>
                <a:latin typeface="Tahoma"/>
                <a:cs typeface="Tahoma"/>
              </a:rPr>
              <a:t>Sustainable:</a:t>
            </a:r>
            <a:r>
              <a:rPr b="1" spc="-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70" dirty="0">
                <a:solidFill>
                  <a:srgbClr val="334054"/>
                </a:solidFill>
                <a:latin typeface="Tahoma"/>
                <a:cs typeface="Tahoma"/>
              </a:rPr>
              <a:t>Reduces</a:t>
            </a:r>
            <a:r>
              <a:rPr spc="-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334054"/>
                </a:solidFill>
                <a:latin typeface="Tahoma"/>
                <a:cs typeface="Tahoma"/>
              </a:rPr>
              <a:t>paper</a:t>
            </a:r>
            <a:r>
              <a:rPr spc="-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334054"/>
                </a:solidFill>
                <a:latin typeface="Tahoma"/>
                <a:cs typeface="Tahoma"/>
              </a:rPr>
              <a:t>consumption</a:t>
            </a:r>
            <a:r>
              <a:rPr spc="-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75" dirty="0">
                <a:solidFill>
                  <a:srgbClr val="334054"/>
                </a:solidFill>
                <a:latin typeface="Tahoma"/>
                <a:cs typeface="Tahoma"/>
              </a:rPr>
              <a:t>across</a:t>
            </a:r>
            <a:r>
              <a:rPr spc="-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70" dirty="0">
                <a:solidFill>
                  <a:srgbClr val="334054"/>
                </a:solidFill>
                <a:latin typeface="Tahoma"/>
                <a:cs typeface="Tahoma"/>
              </a:rPr>
              <a:t>academic</a:t>
            </a:r>
            <a:r>
              <a:rPr spc="-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334054"/>
                </a:solidFill>
                <a:latin typeface="Tahoma"/>
                <a:cs typeface="Tahoma"/>
              </a:rPr>
              <a:t>departments.</a:t>
            </a:r>
            <a:endParaRPr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b="1" spc="-10" dirty="0">
                <a:solidFill>
                  <a:srgbClr val="334054"/>
                </a:solidFill>
                <a:latin typeface="Tahoma"/>
                <a:cs typeface="Tahoma"/>
              </a:rPr>
              <a:t>Modular</a:t>
            </a:r>
            <a:r>
              <a:rPr b="1" spc="-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b="1" spc="-10" dirty="0">
                <a:solidFill>
                  <a:srgbClr val="334054"/>
                </a:solidFill>
                <a:latin typeface="Tahoma"/>
                <a:cs typeface="Tahoma"/>
              </a:rPr>
              <a:t>Maintenance:</a:t>
            </a:r>
            <a:r>
              <a:rPr b="1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334054"/>
                </a:solidFill>
                <a:latin typeface="Tahoma"/>
                <a:cs typeface="Tahoma"/>
              </a:rPr>
              <a:t>Clean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 modular </a:t>
            </a:r>
            <a:r>
              <a:rPr spc="55" dirty="0">
                <a:solidFill>
                  <a:srgbClr val="334054"/>
                </a:solidFill>
                <a:latin typeface="Tahoma"/>
                <a:cs typeface="Tahoma"/>
              </a:rPr>
              <a:t>design</a:t>
            </a:r>
            <a:r>
              <a:rPr spc="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334054"/>
                </a:solidFill>
                <a:latin typeface="Tahoma"/>
                <a:cs typeface="Tahoma"/>
              </a:rPr>
              <a:t>allows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0" dirty="0">
                <a:solidFill>
                  <a:srgbClr val="334054"/>
                </a:solidFill>
                <a:latin typeface="Tahoma"/>
                <a:cs typeface="Tahoma"/>
              </a:rPr>
              <a:t>seamless</a:t>
            </a:r>
            <a:r>
              <a:rPr spc="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334054"/>
                </a:solidFill>
                <a:latin typeface="Tahoma"/>
                <a:cs typeface="Tahoma"/>
              </a:rPr>
              <a:t>expansion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0" dirty="0">
                <a:solidFill>
                  <a:srgbClr val="334054"/>
                </a:solidFill>
                <a:latin typeface="Tahoma"/>
                <a:cs typeface="Tahoma"/>
              </a:rPr>
              <a:t>of</a:t>
            </a:r>
            <a:r>
              <a:rPr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334054"/>
                </a:solidFill>
                <a:latin typeface="Tahoma"/>
                <a:cs typeface="Tahoma"/>
              </a:rPr>
              <a:t>new</a:t>
            </a:r>
            <a:r>
              <a:rPr spc="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334054"/>
                </a:solidFill>
                <a:latin typeface="Tahoma"/>
                <a:cs typeface="Tahoma"/>
              </a:rPr>
              <a:t>features.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654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00"/>
              </a:spcBef>
            </a:pPr>
            <a:r>
              <a:rPr sz="2550" spc="-185" dirty="0">
                <a:solidFill>
                  <a:srgbClr val="0E1729"/>
                </a:solidFill>
              </a:rPr>
              <a:t>System</a:t>
            </a:r>
            <a:r>
              <a:rPr sz="2550" spc="-130" dirty="0">
                <a:solidFill>
                  <a:srgbClr val="0E1729"/>
                </a:solidFill>
              </a:rPr>
              <a:t> </a:t>
            </a:r>
            <a:r>
              <a:rPr sz="2550" spc="-135" dirty="0">
                <a:solidFill>
                  <a:srgbClr val="0E1729"/>
                </a:solidFill>
              </a:rPr>
              <a:t>Advantages</a:t>
            </a:r>
            <a:endParaRPr sz="2550" dirty="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0657" cy="10589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5D53FC-33DA-0BAD-5E9A-BC0083A06029}"/>
              </a:ext>
            </a:extLst>
          </p:cNvPr>
          <p:cNvSpPr txBox="1"/>
          <p:nvPr/>
        </p:nvSpPr>
        <p:spPr>
          <a:xfrm>
            <a:off x="1423168" y="312014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secure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743200"/>
            <a:ext cx="152399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3914776"/>
            <a:ext cx="123824" cy="123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5429399"/>
            <a:ext cx="95249" cy="133201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95296" y="1563247"/>
            <a:ext cx="11201406" cy="547261"/>
          </a:xfrm>
          <a:prstGeom prst="rect">
            <a:avLst/>
          </a:prstGeom>
        </p:spPr>
        <p:txBody>
          <a:bodyPr vert="horz" wrap="square" lIns="0" tIns="54288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3200" spc="-95" dirty="0">
                <a:solidFill>
                  <a:srgbClr val="0E1729"/>
                </a:solidFill>
              </a:rPr>
              <a:t>Future</a:t>
            </a:r>
            <a:r>
              <a:rPr sz="3200" spc="-114" dirty="0">
                <a:solidFill>
                  <a:srgbClr val="0E1729"/>
                </a:solidFill>
              </a:rPr>
              <a:t> </a:t>
            </a:r>
            <a:r>
              <a:rPr sz="3200" spc="-130" dirty="0">
                <a:solidFill>
                  <a:srgbClr val="0E1729"/>
                </a:solidFill>
              </a:rPr>
              <a:t>Enhancements</a:t>
            </a:r>
            <a:endParaRPr sz="3200" dirty="0"/>
          </a:p>
        </p:txBody>
      </p:sp>
      <p:sp>
        <p:nvSpPr>
          <p:cNvPr id="7" name="object 7"/>
          <p:cNvSpPr txBox="1"/>
          <p:nvPr/>
        </p:nvSpPr>
        <p:spPr>
          <a:xfrm>
            <a:off x="920750" y="2638469"/>
            <a:ext cx="4450715" cy="3732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600" b="1" dirty="0">
                <a:solidFill>
                  <a:srgbClr val="334054"/>
                </a:solidFill>
                <a:latin typeface="Tahoma"/>
                <a:cs typeface="Tahoma"/>
              </a:rPr>
              <a:t>Cloud </a:t>
            </a:r>
            <a:r>
              <a:rPr sz="1600" b="1" spc="-10" dirty="0">
                <a:solidFill>
                  <a:srgbClr val="334054"/>
                </a:solidFill>
                <a:latin typeface="Tahoma"/>
                <a:cs typeface="Tahoma"/>
              </a:rPr>
              <a:t>Storage</a:t>
            </a:r>
            <a:r>
              <a:rPr sz="1600" b="1" dirty="0">
                <a:solidFill>
                  <a:srgbClr val="334054"/>
                </a:solidFill>
                <a:latin typeface="Tahoma"/>
                <a:cs typeface="Tahoma"/>
              </a:rPr>
              <a:t> Syncing:</a:t>
            </a:r>
            <a:r>
              <a:rPr sz="1600" b="1" spc="7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Integrate</a:t>
            </a:r>
            <a:r>
              <a:rPr sz="1600"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remote</a:t>
            </a:r>
            <a:r>
              <a:rPr sz="1600"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85" dirty="0">
                <a:solidFill>
                  <a:srgbClr val="334054"/>
                </a:solidFill>
                <a:latin typeface="Tahoma"/>
                <a:cs typeface="Tahoma"/>
              </a:rPr>
              <a:t>S3/GCS</a:t>
            </a:r>
            <a:r>
              <a:rPr sz="1600" spc="4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334054"/>
                </a:solidFill>
                <a:latin typeface="Tahoma"/>
                <a:cs typeface="Tahoma"/>
              </a:rPr>
              <a:t>buckets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for</a:t>
            </a:r>
            <a:r>
              <a:rPr sz="1600" spc="10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unlimited</a:t>
            </a:r>
            <a:r>
              <a:rPr sz="1600" spc="10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334054"/>
                </a:solidFill>
                <a:latin typeface="Tahoma"/>
                <a:cs typeface="Tahoma"/>
              </a:rPr>
              <a:t>asset</a:t>
            </a:r>
            <a:r>
              <a:rPr sz="1600" spc="10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334054"/>
                </a:solidFill>
                <a:latin typeface="Tahoma"/>
                <a:cs typeface="Tahoma"/>
              </a:rPr>
              <a:t>distribution.</a:t>
            </a:r>
            <a:endParaRPr sz="1600" dirty="0">
              <a:latin typeface="Tahoma"/>
              <a:cs typeface="Tahoma"/>
            </a:endParaRPr>
          </a:p>
          <a:p>
            <a:pPr marL="12700" marR="640080">
              <a:lnSpc>
                <a:spcPct val="150000"/>
              </a:lnSpc>
              <a:spcBef>
                <a:spcPts val="450"/>
              </a:spcBef>
            </a:pPr>
            <a:r>
              <a:rPr sz="1600" b="1" spc="-80" dirty="0">
                <a:solidFill>
                  <a:srgbClr val="334054"/>
                </a:solidFill>
                <a:latin typeface="Tahoma"/>
                <a:cs typeface="Tahoma"/>
              </a:rPr>
              <a:t>AI</a:t>
            </a:r>
            <a:r>
              <a:rPr sz="1600" b="1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334054"/>
                </a:solidFill>
                <a:latin typeface="Tahoma"/>
                <a:cs typeface="Tahoma"/>
              </a:rPr>
              <a:t>Semantic</a:t>
            </a:r>
            <a:r>
              <a:rPr sz="1600" b="1" spc="3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334054"/>
                </a:solidFill>
                <a:latin typeface="Tahoma"/>
                <a:cs typeface="Tahoma"/>
              </a:rPr>
              <a:t>Search:</a:t>
            </a:r>
            <a:r>
              <a:rPr sz="1600" b="1" spc="11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Incorporate</a:t>
            </a:r>
            <a:r>
              <a:rPr sz="1600" spc="8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natural</a:t>
            </a:r>
            <a:r>
              <a:rPr sz="1600" spc="8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334054"/>
                </a:solidFill>
                <a:latin typeface="Tahoma"/>
                <a:cs typeface="Tahoma"/>
              </a:rPr>
              <a:t>language </a:t>
            </a:r>
            <a:r>
              <a:rPr sz="1600" spc="60" dirty="0">
                <a:solidFill>
                  <a:srgbClr val="334054"/>
                </a:solidFill>
                <a:latin typeface="Tahoma"/>
                <a:cs typeface="Tahoma"/>
              </a:rPr>
              <a:t>processing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for</a:t>
            </a:r>
            <a:r>
              <a:rPr sz="1600" spc="6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smart</a:t>
            </a:r>
            <a:r>
              <a:rPr sz="1600" spc="6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65" dirty="0">
                <a:solidFill>
                  <a:srgbClr val="334054"/>
                </a:solidFill>
                <a:latin typeface="Tahoma"/>
                <a:cs typeface="Tahoma"/>
              </a:rPr>
              <a:t>vector-</a:t>
            </a:r>
            <a:r>
              <a:rPr sz="1600" spc="75" dirty="0">
                <a:solidFill>
                  <a:srgbClr val="334054"/>
                </a:solidFill>
                <a:latin typeface="Tahoma"/>
                <a:cs typeface="Tahoma"/>
              </a:rPr>
              <a:t>based</a:t>
            </a:r>
            <a:r>
              <a:rPr sz="1600" spc="6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45" dirty="0">
                <a:solidFill>
                  <a:srgbClr val="334054"/>
                </a:solidFill>
                <a:latin typeface="Tahoma"/>
                <a:cs typeface="Tahoma"/>
              </a:rPr>
              <a:t>resource </a:t>
            </a:r>
            <a:r>
              <a:rPr sz="1600" spc="40" dirty="0">
                <a:solidFill>
                  <a:srgbClr val="334054"/>
                </a:solidFill>
                <a:latin typeface="Tahoma"/>
                <a:cs typeface="Tahoma"/>
              </a:rPr>
              <a:t>recommendations.</a:t>
            </a:r>
            <a:endParaRPr sz="1600" dirty="0">
              <a:latin typeface="Tahoma"/>
              <a:cs typeface="Tahoma"/>
            </a:endParaRPr>
          </a:p>
          <a:p>
            <a:pPr marL="12700" marR="323215">
              <a:lnSpc>
                <a:spcPct val="150000"/>
              </a:lnSpc>
              <a:spcBef>
                <a:spcPts val="75"/>
              </a:spcBef>
            </a:pPr>
            <a:r>
              <a:rPr sz="1600" b="1" dirty="0">
                <a:solidFill>
                  <a:srgbClr val="334054"/>
                </a:solidFill>
                <a:latin typeface="Tahoma"/>
                <a:cs typeface="Tahoma"/>
              </a:rPr>
              <a:t>Cross-Platform</a:t>
            </a:r>
            <a:r>
              <a:rPr sz="1600" b="1"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334054"/>
                </a:solidFill>
                <a:latin typeface="Tahoma"/>
                <a:cs typeface="Tahoma"/>
              </a:rPr>
              <a:t>Mobile</a:t>
            </a:r>
            <a:r>
              <a:rPr sz="1600" b="1" spc="2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b="1" spc="10" dirty="0">
                <a:solidFill>
                  <a:srgbClr val="334054"/>
                </a:solidFill>
                <a:latin typeface="Tahoma"/>
                <a:cs typeface="Tahoma"/>
              </a:rPr>
              <a:t>App:</a:t>
            </a:r>
            <a:r>
              <a:rPr sz="1600" b="1" spc="9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334054"/>
                </a:solidFill>
                <a:latin typeface="Tahoma"/>
                <a:cs typeface="Tahoma"/>
              </a:rPr>
              <a:t>Build</a:t>
            </a:r>
            <a:r>
              <a:rPr sz="1600" spc="7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334054"/>
                </a:solidFill>
                <a:latin typeface="Tahoma"/>
                <a:cs typeface="Tahoma"/>
              </a:rPr>
              <a:t>flutter/React</a:t>
            </a:r>
            <a:r>
              <a:rPr sz="1600" spc="7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40" dirty="0">
                <a:solidFill>
                  <a:srgbClr val="334054"/>
                </a:solidFill>
                <a:latin typeface="Tahoma"/>
                <a:cs typeface="Tahoma"/>
              </a:rPr>
              <a:t>Native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frontends</a:t>
            </a:r>
            <a:r>
              <a:rPr sz="1600" spc="1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interacting</a:t>
            </a:r>
            <a:r>
              <a:rPr sz="1600" spc="1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334054"/>
                </a:solidFill>
                <a:latin typeface="Tahoma"/>
                <a:cs typeface="Tahoma"/>
              </a:rPr>
              <a:t>with</a:t>
            </a:r>
            <a:r>
              <a:rPr sz="1600" spc="1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-235" dirty="0">
                <a:solidFill>
                  <a:srgbClr val="334054"/>
                </a:solidFill>
                <a:latin typeface="Tahoma"/>
                <a:cs typeface="Tahoma"/>
              </a:rPr>
              <a:t>C</a:t>
            </a:r>
            <a:r>
              <a:rPr sz="1600" spc="1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70" dirty="0">
                <a:solidFill>
                  <a:srgbClr val="334054"/>
                </a:solidFill>
                <a:latin typeface="Tahoma"/>
                <a:cs typeface="Tahoma"/>
              </a:rPr>
              <a:t>backend</a:t>
            </a:r>
            <a:r>
              <a:rPr sz="1600" spc="15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600" spc="45" dirty="0">
                <a:solidFill>
                  <a:srgbClr val="334054"/>
                </a:solidFill>
                <a:latin typeface="Tahoma"/>
                <a:cs typeface="Tahoma"/>
              </a:rPr>
              <a:t>services.</a:t>
            </a:r>
            <a:endParaRPr sz="1600" dirty="0">
              <a:latin typeface="Tahoma"/>
              <a:cs typeface="Tahoma"/>
            </a:endParaRPr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AE5CC5D9-372D-0332-1010-3DC42C0BBC3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1665954" cy="10133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B755AD-3880-4D22-6188-3FCA66AE4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1" y="1219200"/>
            <a:ext cx="70104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0696" rIns="0" bIns="0" rtlCol="0">
            <a:spAutoFit/>
          </a:bodyPr>
          <a:lstStyle/>
          <a:p>
            <a:pPr marL="4352925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5000" y="2926394"/>
            <a:ext cx="8915400" cy="28478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58300"/>
              </a:lnSpc>
              <a:spcBef>
                <a:spcPts val="100"/>
              </a:spcBef>
            </a:pPr>
            <a:r>
              <a:rPr sz="2400" spc="55" dirty="0">
                <a:solidFill>
                  <a:srgbClr val="036EA6"/>
                </a:solidFill>
                <a:latin typeface="Tahoma"/>
                <a:cs typeface="Tahoma"/>
              </a:rPr>
              <a:t>The</a:t>
            </a:r>
            <a:r>
              <a:rPr sz="2400" spc="45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Digital</a:t>
            </a:r>
            <a:r>
              <a:rPr sz="2400" spc="45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Library</a:t>
            </a:r>
            <a:r>
              <a:rPr sz="2400" spc="5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-70" dirty="0">
                <a:solidFill>
                  <a:srgbClr val="036EA6"/>
                </a:solidFill>
                <a:latin typeface="Tahoma"/>
                <a:cs typeface="Tahoma"/>
              </a:rPr>
              <a:t>&amp;</a:t>
            </a:r>
            <a:r>
              <a:rPr sz="2400" spc="45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36EA6"/>
                </a:solidFill>
                <a:latin typeface="Tahoma"/>
                <a:cs typeface="Tahoma"/>
              </a:rPr>
              <a:t>Paperless</a:t>
            </a:r>
            <a:r>
              <a:rPr sz="2400" spc="5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Learning</a:t>
            </a:r>
            <a:r>
              <a:rPr sz="2400" spc="45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036EA6"/>
                </a:solidFill>
                <a:latin typeface="Tahoma"/>
                <a:cs typeface="Tahoma"/>
              </a:rPr>
              <a:t>Resource</a:t>
            </a:r>
            <a:r>
              <a:rPr sz="2400" spc="50" dirty="0">
                <a:solidFill>
                  <a:srgbClr val="036EA6"/>
                </a:solidFill>
                <a:latin typeface="Tahoma"/>
                <a:cs typeface="Tahoma"/>
              </a:rPr>
              <a:t> Management</a:t>
            </a:r>
            <a:r>
              <a:rPr sz="2400" spc="45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036EA6"/>
                </a:solidFill>
                <a:latin typeface="Tahoma"/>
                <a:cs typeface="Tahoma"/>
              </a:rPr>
              <a:t>System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demonstrates</a:t>
            </a:r>
            <a:r>
              <a:rPr sz="2400" spc="215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036EA6"/>
                </a:solidFill>
                <a:latin typeface="Tahoma"/>
                <a:cs typeface="Tahoma"/>
              </a:rPr>
              <a:t>how</a:t>
            </a:r>
            <a:r>
              <a:rPr sz="2400" spc="22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foundational</a:t>
            </a:r>
            <a:r>
              <a:rPr sz="2400" spc="22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45" dirty="0">
                <a:solidFill>
                  <a:srgbClr val="036EA6"/>
                </a:solidFill>
                <a:latin typeface="Tahoma"/>
                <a:cs typeface="Tahoma"/>
              </a:rPr>
              <a:t>Object-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Oriented</a:t>
            </a:r>
            <a:r>
              <a:rPr sz="2400" spc="22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paradigms</a:t>
            </a:r>
            <a:r>
              <a:rPr sz="2400" spc="215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and</a:t>
            </a:r>
            <a:r>
              <a:rPr sz="2400" spc="22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036EA6"/>
                </a:solidFill>
                <a:latin typeface="Tahoma"/>
                <a:cs typeface="Tahoma"/>
              </a:rPr>
              <a:t>file </a:t>
            </a:r>
            <a:r>
              <a:rPr sz="2400" spc="70" dirty="0">
                <a:solidFill>
                  <a:srgbClr val="036EA6"/>
                </a:solidFill>
                <a:latin typeface="Tahoma"/>
                <a:cs typeface="Tahoma"/>
              </a:rPr>
              <a:t>processing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036EA6"/>
                </a:solidFill>
                <a:latin typeface="Tahoma"/>
                <a:cs typeface="Tahoma"/>
              </a:rPr>
              <a:t>techniques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036EA6"/>
                </a:solidFill>
                <a:latin typeface="Tahoma"/>
                <a:cs typeface="Tahoma"/>
              </a:rPr>
              <a:t>can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036EA6"/>
                </a:solidFill>
                <a:latin typeface="Tahoma"/>
                <a:cs typeface="Tahoma"/>
              </a:rPr>
              <a:t>effectively</a:t>
            </a:r>
            <a:r>
              <a:rPr sz="2400" spc="5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automate </a:t>
            </a:r>
            <a:r>
              <a:rPr sz="2400" spc="65" dirty="0">
                <a:solidFill>
                  <a:srgbClr val="036EA6"/>
                </a:solidFill>
                <a:latin typeface="Tahoma"/>
                <a:cs typeface="Tahoma"/>
              </a:rPr>
              <a:t>academic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036EA6"/>
                </a:solidFill>
                <a:latin typeface="Tahoma"/>
                <a:cs typeface="Tahoma"/>
              </a:rPr>
              <a:t>resource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administration,</a:t>
            </a:r>
            <a:r>
              <a:rPr sz="2400" spc="10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036EA6"/>
                </a:solidFill>
                <a:latin typeface="Tahoma"/>
                <a:cs typeface="Tahoma"/>
              </a:rPr>
              <a:t>reduce</a:t>
            </a:r>
            <a:r>
              <a:rPr sz="2400" spc="11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036EA6"/>
                </a:solidFill>
                <a:latin typeface="Tahoma"/>
                <a:cs typeface="Tahoma"/>
              </a:rPr>
              <a:t>paper</a:t>
            </a:r>
            <a:r>
              <a:rPr sz="2400" spc="11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waste,</a:t>
            </a:r>
            <a:r>
              <a:rPr sz="2400" spc="11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and</a:t>
            </a:r>
            <a:r>
              <a:rPr sz="2400" spc="11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deliver</a:t>
            </a:r>
            <a:r>
              <a:rPr sz="2400" spc="11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an</a:t>
            </a:r>
            <a:r>
              <a:rPr sz="2400" spc="11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36EA6"/>
                </a:solidFill>
                <a:latin typeface="Tahoma"/>
                <a:cs typeface="Tahoma"/>
              </a:rPr>
              <a:t>intuitive</a:t>
            </a:r>
            <a:r>
              <a:rPr sz="2400" spc="110" dirty="0">
                <a:solidFill>
                  <a:srgbClr val="036EA6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36EA6"/>
                </a:solidFill>
                <a:latin typeface="Tahoma"/>
                <a:cs typeface="Tahoma"/>
              </a:rPr>
              <a:t>learning platform.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1665954" cy="10133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57500" y="3987107"/>
            <a:ext cx="6477000" cy="504825"/>
            <a:chOff x="2857500" y="3987107"/>
            <a:chExt cx="6477000" cy="504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7500" y="3987107"/>
              <a:ext cx="6476999" cy="5048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0400" y="4158557"/>
              <a:ext cx="152399" cy="1624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2625" y="4167581"/>
              <a:ext cx="219000" cy="153402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86147" y="2327535"/>
            <a:ext cx="34556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54" dirty="0">
                <a:solidFill>
                  <a:srgbClr val="0E1729"/>
                </a:solidFill>
              </a:rPr>
              <a:t>Thank</a:t>
            </a:r>
            <a:r>
              <a:rPr sz="4800" spc="-260" dirty="0">
                <a:solidFill>
                  <a:srgbClr val="0E1729"/>
                </a:solidFill>
              </a:rPr>
              <a:t> </a:t>
            </a:r>
            <a:r>
              <a:rPr sz="4800" spc="-325" dirty="0">
                <a:solidFill>
                  <a:srgbClr val="0E1729"/>
                </a:solidFill>
              </a:rPr>
              <a:t>You!</a:t>
            </a:r>
            <a:endParaRPr sz="4800"/>
          </a:p>
        </p:txBody>
      </p:sp>
      <p:sp>
        <p:nvSpPr>
          <p:cNvPr id="7" name="object 7"/>
          <p:cNvSpPr txBox="1"/>
          <p:nvPr/>
        </p:nvSpPr>
        <p:spPr>
          <a:xfrm>
            <a:off x="3365893" y="4124026"/>
            <a:ext cx="2174875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01215" algn="l"/>
              </a:tabLst>
            </a:pPr>
            <a:r>
              <a:rPr sz="1350" b="1" spc="-20" dirty="0">
                <a:solidFill>
                  <a:srgbClr val="334054"/>
                </a:solidFill>
                <a:latin typeface="Tahoma"/>
                <a:cs typeface="Tahoma"/>
              </a:rPr>
              <a:t>Capstone</a:t>
            </a:r>
            <a:r>
              <a:rPr sz="1350" b="1" spc="-40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334054"/>
                </a:solidFill>
                <a:latin typeface="Tahoma"/>
                <a:cs typeface="Tahoma"/>
              </a:rPr>
              <a:t>Project</a:t>
            </a:r>
            <a:r>
              <a:rPr sz="1350" b="1" dirty="0">
                <a:solidFill>
                  <a:srgbClr val="334054"/>
                </a:solidFill>
                <a:latin typeface="Tahoma"/>
                <a:cs typeface="Tahoma"/>
              </a:rPr>
              <a:t>	</a:t>
            </a:r>
            <a:r>
              <a:rPr sz="1350" b="1" spc="-440" dirty="0">
                <a:solidFill>
                  <a:srgbClr val="334054"/>
                </a:solidFill>
                <a:latin typeface="Tahoma"/>
                <a:cs typeface="Tahoma"/>
              </a:rPr>
              <a:t>|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8289" y="4124026"/>
            <a:ext cx="293751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65" dirty="0">
                <a:solidFill>
                  <a:srgbClr val="334054"/>
                </a:solidFill>
                <a:latin typeface="Tahoma"/>
                <a:cs typeface="Tahoma"/>
              </a:rPr>
              <a:t>Digital</a:t>
            </a:r>
            <a:r>
              <a:rPr sz="1350" b="1" spc="-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350" b="1" spc="-45" dirty="0">
                <a:solidFill>
                  <a:srgbClr val="334054"/>
                </a:solidFill>
                <a:latin typeface="Tahoma"/>
                <a:cs typeface="Tahoma"/>
              </a:rPr>
              <a:t>Library</a:t>
            </a:r>
            <a:r>
              <a:rPr sz="1350" b="1" spc="-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350" b="1" spc="-50" dirty="0">
                <a:solidFill>
                  <a:srgbClr val="334054"/>
                </a:solidFill>
                <a:latin typeface="Tahoma"/>
                <a:cs typeface="Tahoma"/>
              </a:rPr>
              <a:t>Management</a:t>
            </a:r>
            <a:r>
              <a:rPr sz="1350" b="1" spc="-35" dirty="0">
                <a:solidFill>
                  <a:srgbClr val="334054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334054"/>
                </a:solidFill>
                <a:latin typeface="Tahoma"/>
                <a:cs typeface="Tahoma"/>
              </a:rPr>
              <a:t>System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</TotalTime>
  <Words>1204</Words>
  <Application>Microsoft Office PowerPoint</Application>
  <PresentationFormat>Widescreen</PresentationFormat>
  <Paragraphs>128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 Black</vt:lpstr>
      <vt:lpstr>Calibri</vt:lpstr>
      <vt:lpstr>Tahoma</vt:lpstr>
      <vt:lpstr>Times New Roman</vt:lpstr>
      <vt:lpstr>Verdana</vt:lpstr>
      <vt:lpstr>Office Theme</vt:lpstr>
      <vt:lpstr> Digital Library &amp; Paperless Learning Resource Management System </vt:lpstr>
      <vt:lpstr>Introduction</vt:lpstr>
      <vt:lpstr>Problem Statement</vt:lpstr>
      <vt:lpstr>System Objectives</vt:lpstr>
      <vt:lpstr>Existing vs. Automated System</vt:lpstr>
      <vt:lpstr>Proposed C++ Architecture</vt:lpstr>
      <vt:lpstr>System Architecture &amp; Modules</vt:lpstr>
      <vt:lpstr>Module 1 - User Management</vt:lpstr>
      <vt:lpstr>Module 2 - Smart Classiﬁcation</vt:lpstr>
      <vt:lpstr>Module 3 - Digital Resource Engine</vt:lpstr>
      <vt:lpstr>Module 4 - Borrowing &amp; Access Control</vt:lpstr>
      <vt:lpstr>Module 5 - Archiving &amp; Document Control</vt:lpstr>
      <vt:lpstr>Module 6 - Admin Analytics &amp; Metrics</vt:lpstr>
      <vt:lpstr>Use Case &amp; System Interaction</vt:lpstr>
      <vt:lpstr>System Workﬂow</vt:lpstr>
      <vt:lpstr>C++ Programming Concepts Applied</vt:lpstr>
      <vt:lpstr>System Advantages</vt:lpstr>
      <vt:lpstr>Future Enhancements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Library &amp; Paperless Learning Resource Management System.pdf</dc:title>
  <dc:creator>NoNamer</dc:creator>
  <cp:keywords>DAHTNhaS0XY,BAG4quNphJg</cp:keywords>
  <cp:lastModifiedBy>Gokul k</cp:lastModifiedBy>
  <cp:revision>6</cp:revision>
  <dcterms:created xsi:type="dcterms:W3CDTF">2026-08-25T06:55:44Z</dcterms:created>
  <dcterms:modified xsi:type="dcterms:W3CDTF">2026-08-26T05:02:36Z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2026-08-24T00:00:00Z</vt:filetime>
  </property>
  <property fmtid="{D5CDD505-2E9C-101B-9397-08002B2CF9AE}" pid="3" name="Creator">
    <vt:lpwstr>Canva</vt:lpwstr>
  </property>
  <property fmtid="{D5CDD505-2E9C-101B-9397-08002B2CF9AE}" pid="4" name="LastSaved">
    <vt:filetime>2026-08-25T00:00:00Z</vt:filetime>
  </property>
  <property fmtid="{D5CDD505-2E9C-101B-9397-08002B2CF9AE}" pid="5" name="Producer">
    <vt:lpwstr>Canva</vt:lpwstr>
  </property>
</Properties>
</file>